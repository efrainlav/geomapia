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color del módulo -->
      <p:sp>
        <p:nvSpPr>
          <p:cNvPr id="2" name="TopBar"/>
          <p:cNvSpPr/>
          <p:nvPr/>
        </p:nvSpPr>
        <p:spPr>
          <a:xfrm>
            <a:off x="0" y="0"/>
            <a:ext cx="9144000" cy="140000"/>
          </a:xfrm>
          <a:prstGeom prst="rect">
            <a:avLst/>
          </a:prstGeom>
          <a:solidFill>
            <a:srgbClr val="10B981"/>
          </a:solidFill>
        </p:spPr>
      </p:sp>
      <!-- Tarjeta Central de Portada -->
      <p:sp>
        <p:nvSpPr>
          <p:cNvPr id="3" name="HeroCard"/>
          <p:cNvSpPr/>
          <p:nvPr/>
        </p:nvSpPr>
        <p:spPr>
          <a:xfrm>
            <a:off x="550000" y="750000"/>
            <a:ext cx="8044000" cy="3600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txBody>
          <a:bodyPr lIns="360000" rIns="360000" tIns="320000" bIns="320000" anchor="ctr"/>
          <a:lstStyle/>
          <a:p>
            <a:r>
              <a:rPr lang="es-CO" sz="1300" b="1">
                <a:solidFill>
                  <a:srgbClr val="10B981"/>
                </a:solidFill>
              </a:rPr>
              <a:t>🛰️ CURSO AUTODIDACTA GEOMAPIA • SELPER COLOMBIA (MÓDULO 2 • 2.5 HORAS)</a:t>
            </a:r>
          </a:p>
          <a:p>
            <a:pPr spcBef="180000"/>
            <a:r>
              <a:rPr lang="es-CO" sz="2800" b="1">
                <a:solidFill>
                  <a:srgbClr val="FFFFFF"/>
                </a:solidFill>
              </a:rPr>
              <a:t>Visores Interactivos con HTML, JavaScript y Leaflet.js</a:t>
            </a:r>
          </a:p>
          <a:p>
            <a:pPr spcBef="200000"/>
            <a:r>
              <a:rPr lang="es-CO" sz="1500">
                <a:solidFill>
                  <a:srgbClr val="94A3B8"/>
                </a:solidFill>
              </a:rPr>
              <a:t>Servicios WMS oficiales, mapas coropléticos dinámicos, clustering e inspectores prediales</a:t>
            </a:r>
          </a:p>
          <a:p>
            <a:pPr spcBef="260000"/>
            <a:r>
              <a:rPr lang="es-CO" sz="1200" b="1">
                <a:solidFill>
                  <a:srgbClr val="38BDF8"/>
                </a:solidFill>
              </a:rPr>
              <a:t>Sociedad Latinoamericana en Percepción Remota y Sistemas de Información Espacial — https://selper.org.co/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550000" y="4620000"/>
            <a:ext cx="8044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>
                <a:solidFill>
                  <a:srgbClr val="64748B"/>
                </a:solidFill>
              </a:rPr>
              <a:t>Presentación Teórica y Práctica • Diapositiva 1 de 10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10B981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10B981"/>
                </a:solidFill>
              </a:rPr>
              <a:t>MÓDULO 2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1. Arquitectura Interna de Leaflet.js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¿Por qué Leaflet es el estándar WebGIS?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Librería Open Source ultraligera (~42 KB) y 100% compatible con móviles.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No requiere claves de pago (API Keys) ni cuentas de tarjeta de crédito.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Ecosistema enorme de plugins: MarkerCluster, Heatmaps, Side-by-Side, Geoman.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Los modelos de IA (Claude/Gemini) conocen su documentación a la perfección.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Objetos Fundamentales que genera la IA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L.map('map'): Instancia principal del mapa vinculada al div HTML.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L.tileLayer(url): Conecta mapas base (OSM, Carto, Esri Satélite).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L.tileLayer.wms(url, opciones): Conecta geoservicios institucionales OGC.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L.geoJSON(datos, {style, onEachFeature}): Renderiza capas vectoriales con estilos.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Conocer el nombre de estos 4 objetos te permite darle instrucciones quirúrgicas a la IA.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2 de 10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10B981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10B981"/>
                </a:solidFill>
              </a:rPr>
              <a:t>MÓDULO 2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2. Mapas Base (Basemaps) y Teselas XYZ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Cómo funcionan los Tiles {z}/{x}/{y}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El mundo se divide en una pirámide de imágenes de 256x256 píxeles según el zoom (z).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Al mover el mapa, Leaflet solo descarga los cuadros visibles en pantalla.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Proveedores gratuitos recomendados: CartoDB Dark/Positron, OpenStreetMap, Esri Imagery.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OpenTopoMap: Excelente para contexto fisiográfico y cuencas hidrográficas.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Selector de Capas (L.control.layers)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Recibe dos diccionarios: Capas Base (excluyentes) y Capas Superpuestas (checkboxes).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Puedes pedirle a la IA que deje el Modo Oscuro o Satélite activo por defecto.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Importante: incluir siempre la atribución (attribution) del proveedor.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También puedes crear botones propios en Tailwind CSS fuera del control clásico.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Un mapa base oscuro (CartoDB Dark Matter) hace que tus capas temáticas brillen con alto contraste.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3 de 10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10B981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10B981"/>
                </a:solidFill>
              </a:rPr>
              <a:t>MÓDULO 2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3. Integración de Servicios OGC WMS / WMTS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Geoservicios Oficiales en Colombia y el Mundo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IGAC (Colombia en Mapas): Ortofotos, cartografía básica y catastro.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IDEAM / SIAC: Zonificación climática, coberturas de la tierra Corine Land Cover.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Servicio Geológico Colombiano (SGC): Amenaza sísmica y movimientos en masa.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NASA GIBS / Copernicus: Índices satelitales diarios y anomalías térmicas.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Parámetros Clave para pedirle a la IA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Usar L.tileLayer.wms('URL_BASE_WMS', { layers: 'nombre_capa', format: 'image/png', transparent: true }).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Sin transparent: true, el servicio WMS tapará con un fondo blanco tu mapa base.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Agrega siempre un deslizador (&lt;input type='range'&gt;) que llame a capa.setOpacity(val).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Así el usuario puede comparar la ortofoto o capa temática con el catastro.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Verifica que el servidor WMS soporte EPSG:3857 o EPSG:4326 y esté publicado sobre HTTPS.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4 de 10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10B981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10B981"/>
                </a:solidFill>
              </a:rPr>
              <a:t>MÓDULO 2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4. Estructura de un GeoJSON y Carga en el Visor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Anatomía de un FeatureCollection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Un GeoJSON es una lista de objetos llamados 'features' (entidades espaciales).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Cada feature tiene dos partes: 'geometry' (Point, LineString, Polygon) y 'properties'.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En 'properties' viaja la tabla de atributos (código DANE, área, NDVI, avalúo).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Es legible como texto plano: puedes copiar un fragmento y pegarlo en el prompt.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Dos formas de cargarlo en tu visor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1. Embebido en una variable JS (const datos = {...}): Funciona sin servidor al hacer doble clic.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2. Externo con fetch('./data/municipios.geojson'): Ideal para producción y GitHub Pages.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Tip: Muéstrale a la IA solo el primer 'feature' de tu GeoJSON para que conozca los campos.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Nunca pegues un GeoJSON de 50.000 líneas entero en el chat; pega solo el esquema.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Darle a la IA un ejemplo real de 'feature.properties' garantiza que los popups y filtros funcionen a la primera.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5 de 10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10B981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10B981"/>
                </a:solidFill>
              </a:rPr>
              <a:t>MÓDULO 2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5. Teoría y Diseño de Mapas Coropléticos Web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Clasificación y Rampas de Color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Un mapa coroplético colorea polígonos (municipios, cuencas, predios) según un valor numérico.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Rampas secuenciales (amarillo a rojo): para deforestación, riesgo o densidad.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Rampas divergentes (rojo a amarillo a verde): para índices como NDVI o balance hídrico.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La función obtenerColor(valor, variable) en JS evalúa umbrales y devuelve el código HEX.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Cambio Dinámico de Variable Temática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Con un menú &lt;select&gt;, un solo visor sirve para múltiples estudios.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El usuario elige entre: 'Deforestación (ha)', 'Avalúo Catastral ($/ha)' o 'NDVI'.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Al cambiar el selector, se vuelve a aplicar el estilo y se regenera la leyenda.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Ahorra crear 3 mapas separados y permite comparar patrones territoriales.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Usa opacidad de relleno entre 0.65 y 0.80 (fillOpacity) para dejar ver el relieve o satélite debajo.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6 de 10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10B981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10B981"/>
                </a:solidFill>
              </a:rPr>
              <a:t>MÓDULO 2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6. Interactividad Avanzada: Hover, Zoom y Paneles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Eventos del Mouse (onEachFeature)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mouseover: Resalta el polígono bajo el cursor (borde grueso y mayor opacidad).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mouseout: Restaura el estilo original con capaGeoJSON.resetStyle(e.target).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click: Ejecuta map.fitBounds(e.target.getBounds()) para encuadrar el municipio.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Mejora drásticamente la experiencia de usuario frente a un mapa estático.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Inspector Lateral vs Popup Tradicional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El popup clásico requiere hacer clic en cada polígono uno por uno.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Un Panel Inspector Fijo se actualiza instantáneamente al mover el mouse.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Permite mostrar fichas catastrales o ambientales con múltiples indicadores.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En el Prompt 2.2 pedimos ambos: resaltado hover + ficha en tiempo real.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En dispositivos táctiles (móviles), el evento click cumple simultáneamente el rol de inspección.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7 de 10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10B981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10B981"/>
                </a:solidFill>
              </a:rPr>
              <a:t>MÓDULO 2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7. Agrupación de Puntos Masivos (MarkerCluster)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El Problema de Saturación Visual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Dibujar 5.000 marcadores DOM individuales vuelve lento el navegador y tapa el mapa.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Solución 1: L.markerClusterGroup() agrupa puntos cercanos en círculos con contador.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Los círculos cambian de color (verde, amarillo, naranja) según la densidad.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Al hacer clic en un cluster o acercar el zoom, los puntos se despliegan suavemente.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Renderizado en Canvas para Puntos Simples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Solución 2: Activar preferCanvas: true al crear el objeto L.map.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Dibuja decenas de miles de L.circleMarker sobre un único lienzo HTML5 Canvas.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Ideal para focos de calor satelitales (FIRMS) o levantamientos LiDAR/GPS.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Puedes combinar clustering con filtros de búsqueda en tiempo real.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En tu prompt solo necesitas pedir: 'Agrupa los puntos usando Leaflet.markercluster vía CDN'.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8 de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10B981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10B981"/>
                </a:solidFill>
              </a:rPr>
              <a:t>MÓDULO 2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8. Buscadores, Filtros de Atributos y Leyendas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Filtrado Reactivo en el Cliente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La opción filter: (feature) =&gt; {...} de L.geoJSON decide qué polígonos mostrar.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Conectamos una caja de texto (&lt;input&gt;) para buscar por nombre de municipio o uso.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Conectamos un &lt;select&gt; para filtrar por Región Natural (Andina, Caribe, Amazonía...).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La respuesta es instantánea (0 milisegundos de espera de servidor).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Leyendas Cartográficas Automáticas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Todo mapa técnico de SELPER exige una leyenda clara con unidades de medida.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La leyenda se construye en HTML/Tailwind posicionada con z-[500] sobre el mapa.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Al cambiar la variable del mapa, una función JS actualiza los rangos y colores.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Evita leyendas estáticas en imagen que quedan desactualizadas.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Asegúrate de usar z-index &gt;= 500 en tus paneles flotantes para que queden por encima de los controles de Leaflet.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9 de 10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rra superior de acento -->
      <p:sp>
        <p:nvSpPr>
          <p:cNvPr id="2" name="TopBar"/>
          <p:cNvSpPr/>
          <p:nvPr/>
        </p:nvSpPr>
        <p:spPr>
          <a:xfrm>
            <a:off x="0" y="0"/>
            <a:ext cx="9144000" cy="95000"/>
          </a:xfrm>
          <a:prstGeom prst="rect">
            <a:avLst/>
          </a:prstGeom>
          <a:solidFill>
            <a:srgbClr val="10B981"/>
          </a:solidFill>
        </p:spPr>
      </p:sp>
      <!-- Encabezado de la Diapositiva -->
      <p:sp>
        <p:nvSpPr>
          <p:cNvPr id="3" name="Header"/>
          <p:cNvSpPr/>
          <p:nvPr/>
        </p:nvSpPr>
        <p:spPr>
          <a:xfrm>
            <a:off x="420000" y="180000"/>
            <a:ext cx="83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1050" b="1">
                <a:solidFill>
                  <a:srgbClr val="10B981"/>
                </a:solidFill>
              </a:rPr>
              <a:t>MÓDULO 2 • 2.5 HORAS • TEORÍA Y ARQUITECTURA GEOMAPIA</a:t>
            </a:r>
          </a:p>
          <a:p>
            <a:pPr spcBef="40000"/>
            <a:r>
              <a:rPr lang="es-CO" sz="2100" b="1">
                <a:solidFill>
                  <a:srgbClr val="FFFFFF"/>
                </a:solidFill>
              </a:rPr>
              <a:t>9. Resumen y Práctica del Módulo 2</a:t>
            </a:r>
          </a:p>
        </p:txBody>
      </p:sp>
      <!-- Columna Izquierda -->
      <p:sp>
        <p:nvSpPr>
          <p:cNvPr id="4" name="LeftCol"/>
          <p:cNvSpPr/>
          <p:nvPr/>
        </p:nvSpPr>
        <p:spPr>
          <a:xfrm>
            <a:off x="42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8BDF8"/>
                </a:solidFill>
              </a:rPr>
              <a:t>Competencias Adquiridas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Manejo de capas base, superposiciones satelitales/WMS y control de opacidad.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Creación de mapas coropléticos multi-variable con leyendas dinámicas.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Implementación de eventos hover, zoom automático e inspectores prediales.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Agrupación de puntos con MarkerCluster y filtrado por texto y región.</a:t>
            </a:r>
          </a:p>
        </p:txBody>
      </p:sp>
      <!-- Columna Derecha -->
      <p:sp>
        <p:nvSpPr>
          <p:cNvPr id="5" name="RightCol"/>
          <p:cNvSpPr/>
          <p:nvPr/>
        </p:nvSpPr>
        <p:spPr>
          <a:xfrm>
            <a:off x="4700000" y="980000"/>
            <a:ext cx="4020000" cy="305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txBody>
          <a:bodyPr lIns="200000" rIns="200000" tIns="180000" bIns="180000"/>
          <a:lstStyle/>
          <a:p>
            <a:r>
              <a:rPr lang="es-CO" sz="1450" b="1">
                <a:solidFill>
                  <a:srgbClr val="34D399"/>
                </a:solidFill>
              </a:rPr>
              <a:t>Tu Reto Práctico Autodidacta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1. Explora el laboratorio: visor-catastral-ambiental.html.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2. Cambia entre Deforestación, Avalúo Catastral y NDVI en el panel izquierdo.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3. Usa el Prompt 2.2 para agregar una variable nueva (ej. Riesgo de Inundación).</a:t>
            </a:r>
          </a:p>
          <a:p>
            <a:pPr spcBef="90000"/>
            <a:r>
              <a:rPr lang="es-CO" sz="1250">
                <a:solidFill>
                  <a:srgbClr val="E2E8F0"/>
                </a:solidFill>
              </a:rPr>
              <a:t>▸ 4. Marca el Módulo 2 como completado en el portal del curso.</a:t>
            </a:r>
          </a:p>
        </p:txBody>
      </p:sp>
      <!-- Caja Inferior de Concepto Clave -->
      <p:sp>
        <p:nvSpPr>
          <p:cNvPr id="6" name="BottomNote"/>
          <p:cNvSpPr/>
          <p:nvPr/>
        </p:nvSpPr>
        <p:spPr>
          <a:xfrm>
            <a:off x="420000" y="4160000"/>
            <a:ext cx="8300000" cy="54000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10B981"/>
            </a:solidFill>
          </a:ln>
        </p:spPr>
        <p:txBody>
          <a:bodyPr lIns="180000" rIns="180000" anchor="ctr"/>
          <a:lstStyle/>
          <a:p>
            <a:r>
              <a:rPr lang="es-CO" sz="1200" b="1">
                <a:solidFill>
                  <a:srgbClr val="FBBF24"/>
                </a:solidFill>
              </a:rPr>
              <a:t>💡 CONCEPTO CLAVE: </a:t>
            </a:r>
            <a:r>
              <a:rPr lang="es-CO" sz="1200">
                <a:solidFill>
                  <a:srgbClr val="F8FAFC"/>
                </a:solidFill>
              </a:rPr>
              <a:t>En el Módulo 3 aprenderemos a preparar y automatizar datos espaciales con Python + IA.</a:t>
            </a:r>
          </a:p>
        </p:txBody>
      </p:sp>
      <!-- Pie de Diapositiva -->
      <p:sp>
        <p:nvSpPr>
          <p:cNvPr id="7" name="Footer"/>
          <p:cNvSpPr/>
          <p:nvPr/>
        </p:nvSpPr>
        <p:spPr>
          <a:xfrm>
            <a:off x="420000" y="4760000"/>
            <a:ext cx="8300000" cy="3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O" sz="950">
                <a:solidFill>
                  <a:srgbClr val="64748B"/>
                </a:solidFill>
              </a:rPr>
              <a:t>SELPER Colombia (selper.org.co) • Curso Autodidacta GeoMapIA • Diapositiva 10 de 10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2026-10-29T14:33:58Z</dcterms:created>
  <dcterms:modified xsi:type="dcterms:W3CDTF">2026-10-29T14:33:58Z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