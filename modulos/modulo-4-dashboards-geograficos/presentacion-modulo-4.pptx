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color del módulo -->
      <p:sp>
        <p:nvSpPr>
          <p:cNvPr id="2" name="TopBar"/>
          <p:cNvSpPr/>
          <p:nvPr/>
        </p:nvSpPr>
        <p:spPr>
          <a:xfrm>
            <a:off x="0" y="0"/>
            <a:ext cx="9144000" cy="140000"/>
          </a:xfrm>
          <a:prstGeom prst="rect">
            <a:avLst/>
          </a:prstGeom>
          <a:solidFill>
            <a:srgbClr val="A855F7"/>
          </a:solidFill>
        </p:spPr>
      </p:sp>
      <!-- Tarjeta Central de Portada -->
      <p:sp>
        <p:nvSpPr>
          <p:cNvPr id="3" name="HeroCard"/>
          <p:cNvSpPr/>
          <p:nvPr/>
        </p:nvSpPr>
        <p:spPr>
          <a:xfrm>
            <a:off x="550000" y="750000"/>
            <a:ext cx="8044000" cy="360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txBody>
          <a:bodyPr lIns="360000" rIns="360000" tIns="320000" bIns="320000" anchor="ctr"/>
          <a:lstStyle/>
          <a:p>
            <a:r>
              <a:rPr lang="es-CO" sz="1300" b="1">
                <a:solidFill>
                  <a:srgbClr val="A855F7"/>
                </a:solidFill>
              </a:rPr>
              <a:t>🛰️ CURSO AUTODIDACTA GEOMAPIA • SELPER COLOMBIA (MÓDULO 4 • 3.0 HORAS)</a:t>
            </a:r>
          </a:p>
          <a:p>
            <a:pPr spcBef="180000"/>
            <a:r>
              <a:rPr lang="es-CO" sz="2800" b="1">
                <a:solidFill>
                  <a:srgbClr val="FFFFFF"/>
                </a:solidFill>
              </a:rPr>
              <a:t>Dashboards Geográficos Interactivos (Leaflet + Chart.js + Turf.js)</a:t>
            </a:r>
          </a:p>
          <a:p>
            <a:pPr spcBef="200000"/>
            <a:r>
              <a:rPr lang="es-CO" sz="1500">
                <a:solidFill>
                  <a:srgbClr val="94A3B8"/>
                </a:solidFill>
              </a:rPr>
              <a:t>Diseño UI/UX con IA, sincronización bidireccional mapa-gráficos y geoprocesamiento en el navegador</a:t>
            </a:r>
          </a:p>
          <a:p>
            <a:pPr spcBef="260000"/>
            <a:r>
              <a:rPr lang="es-CO" sz="1200" b="1">
                <a:solidFill>
                  <a:srgbClr val="38BDF8"/>
                </a:solidFill>
              </a:rPr>
              <a:t>Sociedad Latinoamericana en Percepción Remota y Sistemas de Información Espacial — https://selper.org.co/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550000" y="4620000"/>
            <a:ext cx="8044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>
                <a:solidFill>
                  <a:srgbClr val="64748B"/>
                </a:solidFill>
              </a:rPr>
              <a:t>Presentación Teórica y Práctica • Diapositiva 1 de 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A855F7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A855F7"/>
                </a:solidFill>
              </a:rPr>
              <a:t>MÓDULO 4 • 3.0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1. De Visor Cartográfico a Dashboard de Decisión (SDSS)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¿Qué diferencia a un Dashboard Geográfico?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 visor tradicional solo muestra dónde están las cosas en el espacio.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 Dashboard responde simultáneamente: ¿Cuántos son?, ¿Cuál es la tendencia? y ¿Dónde es crítico?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Integra 4 componentes en una sola pantalla: Filtros + Tarjetas KPI + Mapa + Gráficos.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Permite a tomadores de decisiones explorar escenarios sin depender de reportes estáticos PDF.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Aplicaciones Clave en la Comunidad SELPER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Salas de crisis de Gestión del Riesgo (monitoreo de lluvias, caudales y alertas).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Tableros de control de deforestación y focos de calor por departamento o CAR.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Seguimiento de avance de actualización catastral multipropósito.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Monitoreo agroclimático de cultivos, humedad del suelo y vigor vegetal (NDVI).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A855F7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El objetivo de diseño es 'Zero-Scroll': toda la información crítica visible en el 100% de la ventana (100vh).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2 de 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A855F7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A855F7"/>
                </a:solidFill>
              </a:rPr>
              <a:t>MÓDULO 4 • 3.0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2. Diseño UI/UX Profesional con IA Multimodal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Distribución en Cuadrícula (12 Columnas)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Tailwind CSS dividimos la pantalla con grid-cols-12: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• 3 columnas izquierdas: Panel de filtros multicriterio y herramientas espaciales.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• 6 columnas centrales: Fila superior con 4 tarjetas KPI + Mapa Leaflet amplio.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• 3 columnas derechas: 2 gráficos estadísticos apilados (Barras + Dona/Línea).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Técnica de Prompting Visual (Imagen a Código)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Puedes dibujar un boceto en papel o tomar captura de pantalla de un tablero referente.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Sube la imagen a Claude o Gemini junto con tu prompt.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Instrucción: 'Replica exactamente esta distribución de paneles usando Tailwind CSS en modo oscuro.'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 IA traducirá proporciones, colores y jerarquía visual a código HTML/CSS limpio.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A855F7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El modo oscuro (bg-slate-950) reduce la fatiga visual en centros de monitoreo y resalta la simbología.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3 de 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A855F7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A855F7"/>
                </a:solidFill>
              </a:rPr>
              <a:t>MÓDULO 4 • 3.0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3. Arquitectura de Sincronización Bidireccional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El Patrón de 'Fuente Única de Verdad'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Mantenemos en memoria el arreglo original (estacionesData) y el filtrado (datosFiltrados).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Todos los controles (select de Región, select de Alerta, slider de Precipitación) llaman a una sola función: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actualizarDashboard()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Esto evita que el mapa muestre una cosa y los gráficos muestren otra distinta.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Los 4 Pasos Internos de actualizarDashboard()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Paso 1: Filtra el arreglo según los controles activos.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Paso 2: Recalcula sumas, promedios y máximos, y actualiza el texto de los 4 KPIs.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Paso 3: Limpia la capa de Leaflet (clearLayers) y dibuja solo los puntos filtrados.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Paso 4: Recalcula las series por región/alerta y ejecuta chart.update() en Chart.js.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A855F7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Pídele siempre a la IA: 'Centraliza toda la reactividad en una única función actualizarDashboard()'.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4 de 9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A855F7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A855F7"/>
                </a:solidFill>
              </a:rPr>
              <a:t>MÓDULO 4 • 3.0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4. Gráficos Estadísticos Dinámicos con Chart.js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¿Por qué Chart.js es ideal junto a Leaflet?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Renderiza sobre HTML5 &lt;canvas&gt; con animaciones fluidas al cambiar datos.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 adapta automáticamente al tamaño del contenedor (responsive: true, maintainAspectRatio: false).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Soporta gráficos de barras, líneas temporales, donas, radar y dispersión.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 actualiza en vivo modificando chart.data.datasets[0].data y llamando a chart.update().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Agregación de Datos en JavaScript (reduce / map)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 IA genera automáticamente las funciones de agrupación por categoría o región.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Ejemplo 1: Promedio de precipitación (mm) agrupado por Región Natural.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Ejemplo 2: Conteo de estaciones por Nivel de Alerta (Alta, Media, Baja).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Los colores del gráfico de dona deben coincidir exactamente con los colores del mapa.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A855F7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Consistencia cartográfica: si 'Alerta Alta' es rojo (#ef4444) en el mapa, debe ser rojo (#ef4444) en el gráfico.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5 de 9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A855F7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A855F7"/>
                </a:solidFill>
              </a:rPr>
              <a:t>MÓDULO 4 • 3.0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5. Geoprocesamiento en el Navegador con Turf.js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¿Qué es Turf.js (Client-Side GIS)?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Es un motor de análisis espacial escrito 100% en JavaScript que corre dentro del navegador.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Trabaja nativamente sobre objetos GeoJSON sin necesitar servidor PostGIS ni Python detrás.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Ejecuta buffers, intersecciones, áreas, distancias, centroides, Voronoi y conteos en milisegundos.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 carga con una sola línea CDN: @turf/turf.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Operaciones Clave implementadas en el Módulo 4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turf.point([lon, lat]): Crea el punto donde el usuario hizo clic en el mapa.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turf.buffer(punto, radioKm, {units: 'kilometers'}): Genera el polígono circular exacto.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turf.pointsWithinPolygon(puntos, buffer): Filtra qué estaciones caen dentro del radio.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4. Muestra al instante en el panel cuántas estaciones quedan afectadas y cuáles son.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A855F7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Recuerda: Turf.js sigue el estándar GeoJSON, por lo que sus coordenadas se pasan en orden [Longitud, Latitud].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6 de 9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A855F7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A855F7"/>
                </a:solidFill>
              </a:rPr>
              <a:t>MÓDULO 4 • 3.0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6. Caso Práctico: Análisis de Radio de Impacto en Vivo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Flujo de Usuario en Situación de Emergencia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Escenario: Se reporta un evento hidroclimático o incendio en una coordenada específica.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El analista activa '📐 Buffer Espacial (Turf.js)' e ingresa un radio (ej. 180 km).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Al hacer clic en el mapa, se dibuja el área de influencia en color cian traslúcido.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El sistema identifica automáticamente las estaciones e infraestructura dentro del anillo.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Otras Funciones de Turf.js que puedes pedir a la IA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turf.area(poligono): Calcula el área en m² (dividir entre 10.000 para hectáreas).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turf.nearestPoint(puntoObjetivo, coleccionPuntos): Encuentra la estación más cercana.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turf.bboxClip / turf.intersect: Recorta capas vectoriales en vivo.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turf.tin / turf.isolines: Interpolación espacial directamente en el cliente.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A855F7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Con Turf.js conviertes un visor pasivo en una verdadera herramienta de análisis SIG en la nube.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7 de 9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A855F7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A855F7"/>
                </a:solidFill>
              </a:rPr>
              <a:t>MÓDULO 4 • 3.0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7. Exportación de Reportes y Datos Filtrados (CSV)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Por qué incluir un botón de descarga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Después de filtrar por región, umbral de lluvia y nivel de alerta, el usuario quiere llevarse el dato.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Sin servidor backend, JavaScript puede construir un archivo CSV en memoria usando Blob.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El archivo descargado contiene únicamente los registros que cumplen el filtro actual.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 abre directamente en Excel o QGIS conservando sus columnas de latitud y longitud.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Código que genera la IA con un Prompt simple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Prompt: 'Agrega un botón que exporte el arreglo datosFiltradosActuales a un archivo .csv'.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Usa new Blob([contenidoCSV], { type: 'text/csv;charset=utf-8;' }).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Crea un enlace temporal &lt;a&gt; con download='reporte_filtrado_selper.csv'.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Cierra el ciclo completo: Visualizar -&gt; Filtrar -&gt; Analizar -&gt; Exportar.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A855F7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También puedes pedirle a la IA que exporte los resultados del análisis de Turf.js en formato GeoJSON.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8 de 9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A855F7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A855F7"/>
                </a:solidFill>
              </a:rPr>
              <a:t>MÓDULO 4 • 3.0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8. Resumen y Práctica del Módulo 4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Competencias Adquiridas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Diseño de interfaces de Centro de Monitoreo con Tailwind CSS y Prompting Visual.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Sincronización en tiempo real entre controles, 4 KPIs, Leaflet y Chart.js.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Geoprocesamiento en el navegador (Buffers y conteo en polígono) con Turf.js.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Generación y descarga de reportes CSV dinámicos desde el navegador.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Tu Reto Práctico Autodidacta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Abre dashboard-riesgo-territorio.html y filtra por región y precipitación.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Activa la casilla 'Buffer Espacial (Turf.js)' y haz clic en varios puntos del mapa.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Pídele a Claude/Gemini que agregue al resultado del Buffer el promedio de NDVI dentro del círculo.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4. Marca el Módulo 4 como completado en el portal.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A855F7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¡En el Módulo 5 daremos el salto a Aplicaciones Web en Python y 3D con Streamlit y PyDeck!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9 de 9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2026-10-29T14:33:58Z</dcterms:created>
  <dcterms:modified xsi:type="dcterms:W3CDTF">2026-10-29T14:33:58Z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