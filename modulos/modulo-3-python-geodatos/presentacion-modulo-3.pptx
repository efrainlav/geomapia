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3" Type="http://schemas.openxmlformats.org/officeDocument/2006/relationships/viewProps" Target="viewProps.xml" /><Relationship Id="rId12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5" Type="http://schemas.openxmlformats.org/officeDocument/2006/relationships/tableStyles" Target="tableStyles.xml" /><Relationship Id="rId14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!-- Barra superior de color del módulo -->
      <p:sp>
        <p:nvSpPr>
          <p:cNvPr id="2" name="TopBar"/>
          <p:cNvSpPr/>
          <p:nvPr/>
        </p:nvSpPr>
        <p:spPr>
          <a:xfrm>
            <a:off x="0" y="0"/>
            <a:ext cx="9144000" cy="140000"/>
          </a:xfrm>
          <a:prstGeom prst="rect">
            <a:avLst/>
          </a:prstGeom>
          <a:solidFill>
            <a:srgbClr val="F59E0B"/>
          </a:solidFill>
        </p:spPr>
      </p:sp>
      <!-- Tarjeta Central de Portada -->
      <p:sp>
        <p:nvSpPr>
          <p:cNvPr id="3" name="HeroCard"/>
          <p:cNvSpPr/>
          <p:nvPr/>
        </p:nvSpPr>
        <p:spPr>
          <a:xfrm>
            <a:off x="550000" y="750000"/>
            <a:ext cx="8044000" cy="3600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txBody>
          <a:bodyPr lIns="360000" rIns="360000" tIns="320000" bIns="320000" anchor="ctr"/>
          <a:lstStyle/>
          <a:p>
            <a:r>
              <a:rPr lang="es-CO" sz="1300" b="1">
                <a:solidFill>
                  <a:srgbClr val="F59E0B"/>
                </a:solidFill>
              </a:rPr>
              <a:t>🛰️ CURSO AUTODIDACTA GEOMAPIA • SELPER COLOMBIA (MÓDULO 3 • 2.5 HORAS)</a:t>
            </a:r>
          </a:p>
          <a:p>
            <a:pPr spcBef="180000"/>
            <a:r>
              <a:rPr lang="es-CO" sz="2800" b="1">
                <a:solidFill>
                  <a:srgbClr val="FFFFFF"/>
                </a:solidFill>
              </a:rPr>
              <a:t>Automatización de Datos Geoespaciales y Mapas con Python + IA</a:t>
            </a:r>
          </a:p>
          <a:p>
            <a:pPr spcBef="200000"/>
            <a:r>
              <a:rPr lang="es-CO" sz="1500">
                <a:solidFill>
                  <a:srgbClr val="94A3B8"/>
                </a:solidFill>
              </a:rPr>
              <a:t>GeoPandas, reproyección MAGNA-SIRGAS a WGS84, Folium y Comparadores Satelitales Split-Map</a:t>
            </a:r>
          </a:p>
          <a:p>
            <a:pPr spcBef="260000"/>
            <a:r>
              <a:rPr lang="es-CO" sz="1200" b="1">
                <a:solidFill>
                  <a:srgbClr val="38BDF8"/>
                </a:solidFill>
              </a:rPr>
              <a:t>Sociedad Latinoamericana en Percepción Remota y Sistemas de Información Espacial — https://selper.org.co/</a:t>
            </a:r>
          </a:p>
        </p:txBody>
      </p:sp>
      <!-- Footer -->
      <p:sp>
        <p:nvSpPr>
          <p:cNvPr id="4" name="Footer"/>
          <p:cNvSpPr/>
          <p:nvPr/>
        </p:nvSpPr>
        <p:spPr>
          <a:xfrm>
            <a:off x="550000" y="4620000"/>
            <a:ext cx="8044000" cy="360000"/>
          </a:xfrm>
          <a:prstGeom prst="rect">
            <a:avLst/>
          </a:prstGeom>
          <a:noFill/>
        </p:spPr>
        <p:txBody>
          <a:bodyPr/>
          <a:lstStyle/>
          <a:p>
            <a:r>
              <a:rPr lang="es-CO" sz="1050">
                <a:solidFill>
                  <a:srgbClr val="64748B"/>
                </a:solidFill>
              </a:rPr>
              <a:t>Presentación Teórica y Práctica • Diapositiva 1 de 10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!-- Barra superior de acento -->
      <p:sp>
        <p:nvSpPr>
          <p:cNvPr id="2" name="TopBar"/>
          <p:cNvSpPr/>
          <p:nvPr/>
        </p:nvSpPr>
        <p:spPr>
          <a:xfrm>
            <a:off x="0" y="0"/>
            <a:ext cx="9144000" cy="95000"/>
          </a:xfrm>
          <a:prstGeom prst="rect">
            <a:avLst/>
          </a:prstGeom>
          <a:solidFill>
            <a:srgbClr val="F59E0B"/>
          </a:solidFill>
        </p:spPr>
      </p:sp>
      <!-- Encabezado de la Diapositiva -->
      <p:sp>
        <p:nvSpPr>
          <p:cNvPr id="3" name="Header"/>
          <p:cNvSpPr/>
          <p:nvPr/>
        </p:nvSpPr>
        <p:spPr>
          <a:xfrm>
            <a:off x="420000" y="180000"/>
            <a:ext cx="8300000" cy="720000"/>
          </a:xfrm>
          <a:prstGeom prst="rect">
            <a:avLst/>
          </a:prstGeom>
          <a:noFill/>
        </p:spPr>
        <p:txBody>
          <a:bodyPr/>
          <a:lstStyle/>
          <a:p>
            <a:r>
              <a:rPr lang="es-CO" sz="1050" b="1">
                <a:solidFill>
                  <a:srgbClr val="F59E0B"/>
                </a:solidFill>
              </a:rPr>
              <a:t>MÓDULO 3 • 2.5 HORAS • TEORÍA Y ARQUITECTURA GEOMAPIA</a:t>
            </a:r>
          </a:p>
          <a:p>
            <a:pPr spcBef="40000"/>
            <a:r>
              <a:rPr lang="es-CO" sz="2100" b="1">
                <a:solidFill>
                  <a:srgbClr val="FFFFFF"/>
                </a:solidFill>
              </a:rPr>
              <a:t>1. ¿Por qué usar Python en el Desarrollo de Visores Web?</a:t>
            </a:r>
          </a:p>
        </p:txBody>
      </p:sp>
      <!-- Columna Izquierda -->
      <p:sp>
        <p:nvSpPr>
          <p:cNvPr id="4" name="LeftCol"/>
          <p:cNvSpPr/>
          <p:nvPr/>
        </p:nvSpPr>
        <p:spPr>
          <a:xfrm>
            <a:off x="420000" y="980000"/>
            <a:ext cx="4020000" cy="3050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txBody>
          <a:bodyPr lIns="200000" rIns="200000" tIns="180000" bIns="180000"/>
          <a:lstStyle/>
          <a:p>
            <a:r>
              <a:rPr lang="es-CO" sz="1450" b="1">
                <a:solidFill>
                  <a:srgbClr val="38BDF8"/>
                </a:solidFill>
              </a:rPr>
              <a:t>Los Cuellos de Botella antes del Visor</a:t>
            </a:r>
          </a:p>
          <a:p>
            <a:pPr spcBef="90000"/>
            <a:r>
              <a:rPr lang="es-CO" sz="1250">
                <a:solidFill>
                  <a:srgbClr val="E2E8F0"/>
                </a:solidFill>
              </a:rPr>
              <a:t>▸ Archivos Shapefile (.shp) de 150 MB que congelan cualquier navegador web.</a:t>
            </a:r>
          </a:p>
          <a:p>
            <a:pPr spcBef="90000"/>
            <a:r>
              <a:rPr lang="es-CO" sz="1250">
                <a:solidFill>
                  <a:srgbClr val="E2E8F0"/>
                </a:solidFill>
              </a:rPr>
              <a:t>▸ Tablas de Excel con coordenadas sucias, comas en vez de puntos o celdas vacías.</a:t>
            </a:r>
          </a:p>
          <a:p>
            <a:pPr spcBef="90000"/>
            <a:r>
              <a:rPr lang="es-CO" sz="1250">
                <a:solidFill>
                  <a:srgbClr val="E2E8F0"/>
                </a:solidFill>
              </a:rPr>
              <a:t>▸ Capas en proyección plana MAGNA-SIRGAS (EPSG:9377) incompatibles con Leaflet.</a:t>
            </a:r>
          </a:p>
          <a:p>
            <a:pPr spcBef="90000"/>
            <a:r>
              <a:rPr lang="es-CO" sz="1250">
                <a:solidFill>
                  <a:srgbClr val="E2E8F0"/>
                </a:solidFill>
              </a:rPr>
              <a:t>▸ Necesidad de cruzar miles de puntos contra polígonos municipales cada semana.</a:t>
            </a:r>
          </a:p>
        </p:txBody>
      </p:sp>
      <!-- Columna Derecha -->
      <p:sp>
        <p:nvSpPr>
          <p:cNvPr id="5" name="RightCol"/>
          <p:cNvSpPr/>
          <p:nvPr/>
        </p:nvSpPr>
        <p:spPr>
          <a:xfrm>
            <a:off x="4700000" y="980000"/>
            <a:ext cx="4020000" cy="3050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F59E0B"/>
            </a:solidFill>
          </a:ln>
        </p:spPr>
        <p:txBody>
          <a:bodyPr lIns="200000" rIns="200000" tIns="180000" bIns="180000"/>
          <a:lstStyle/>
          <a:p>
            <a:r>
              <a:rPr lang="es-CO" sz="1450" b="1">
                <a:solidFill>
                  <a:srgbClr val="34D399"/>
                </a:solidFill>
              </a:rPr>
              <a:t>Python + IA como Tubería (Pipeline) Automática</a:t>
            </a:r>
          </a:p>
          <a:p>
            <a:pPr spcBef="90000"/>
            <a:r>
              <a:rPr lang="es-CO" sz="1250">
                <a:solidFill>
                  <a:srgbClr val="E2E8F0"/>
                </a:solidFill>
              </a:rPr>
              <a:t>▸ No necesitas memorizar funciones de Python: le describes la entrada y salida a la IA.</a:t>
            </a:r>
          </a:p>
          <a:p>
            <a:pPr spcBef="90000"/>
            <a:r>
              <a:rPr lang="es-CO" sz="1250">
                <a:solidFill>
                  <a:srgbClr val="E2E8F0"/>
                </a:solidFill>
              </a:rPr>
              <a:t>▸ Un script de 20 líneas limpia, reproyecta, simplifica y exporta a .geojson en 2 segundos.</a:t>
            </a:r>
          </a:p>
          <a:p>
            <a:pPr spcBef="90000"/>
            <a:r>
              <a:rPr lang="es-CO" sz="1250">
                <a:solidFill>
                  <a:srgbClr val="E2E8F0"/>
                </a:solidFill>
              </a:rPr>
              <a:t>▸ Puedes ejecutarlo gratis en la nube con Google Colab (sin instalar nada) o en local.</a:t>
            </a:r>
          </a:p>
          <a:p>
            <a:pPr spcBef="90000"/>
            <a:r>
              <a:rPr lang="es-CO" sz="1250">
                <a:solidFill>
                  <a:srgbClr val="E2E8F0"/>
                </a:solidFill>
              </a:rPr>
              <a:t>▸ Además, librerías como Folium y Leafmap exportan visores HTML directos desde Python.</a:t>
            </a:r>
          </a:p>
        </p:txBody>
      </p:sp>
      <!-- Caja Inferior de Concepto Clave -->
      <p:sp>
        <p:nvSpPr>
          <p:cNvPr id="6" name="BottomNote"/>
          <p:cNvSpPr/>
          <p:nvPr/>
        </p:nvSpPr>
        <p:spPr>
          <a:xfrm>
            <a:off x="420000" y="4160000"/>
            <a:ext cx="8300000" cy="540000"/>
          </a:xfrm>
          <a:prstGeom prst="roundRect">
            <a:avLst/>
          </a:prstGeom>
          <a:solidFill>
            <a:srgbClr val="090D16"/>
          </a:solidFill>
          <a:ln w="12700">
            <a:solidFill>
              <a:srgbClr val="F59E0B"/>
            </a:solidFill>
          </a:ln>
        </p:spPr>
        <p:txBody>
          <a:bodyPr lIns="180000" rIns="180000" anchor="ctr"/>
          <a:lstStyle/>
          <a:p>
            <a:r>
              <a:rPr lang="es-CO" sz="1200" b="1">
                <a:solidFill>
                  <a:srgbClr val="FBBF24"/>
                </a:solidFill>
              </a:rPr>
              <a:t>💡 CONCEPTO CLAVE: </a:t>
            </a:r>
            <a:r>
              <a:rPr lang="es-CO" sz="1200">
                <a:solidFill>
                  <a:srgbClr val="F8FAFC"/>
                </a:solidFill>
              </a:rPr>
              <a:t>Python prepara y optimiza el dato pesado; JavaScript/Leaflet lo visualiza a máxima velocidad.</a:t>
            </a:r>
          </a:p>
        </p:txBody>
      </p:sp>
      <!-- Pie de Diapositiva -->
      <p:sp>
        <p:nvSpPr>
          <p:cNvPr id="7" name="Footer"/>
          <p:cNvSpPr/>
          <p:nvPr/>
        </p:nvSpPr>
        <p:spPr>
          <a:xfrm>
            <a:off x="420000" y="4760000"/>
            <a:ext cx="8300000" cy="300000"/>
          </a:xfrm>
          <a:prstGeom prst="rect">
            <a:avLst/>
          </a:prstGeom>
          <a:noFill/>
        </p:spPr>
        <p:txBody>
          <a:bodyPr/>
          <a:lstStyle/>
          <a:p>
            <a:r>
              <a:rPr lang="es-CO" sz="950">
                <a:solidFill>
                  <a:srgbClr val="64748B"/>
                </a:solidFill>
              </a:rPr>
              <a:t>SELPER Colombia (selper.org.co) • Curso Autodidacta GeoMapIA • Diapositiva 2 de 10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!-- Barra superior de acento -->
      <p:sp>
        <p:nvSpPr>
          <p:cNvPr id="2" name="TopBar"/>
          <p:cNvSpPr/>
          <p:nvPr/>
        </p:nvSpPr>
        <p:spPr>
          <a:xfrm>
            <a:off x="0" y="0"/>
            <a:ext cx="9144000" cy="95000"/>
          </a:xfrm>
          <a:prstGeom prst="rect">
            <a:avLst/>
          </a:prstGeom>
          <a:solidFill>
            <a:srgbClr val="F59E0B"/>
          </a:solidFill>
        </p:spPr>
      </p:sp>
      <!-- Encabezado de la Diapositiva -->
      <p:sp>
        <p:nvSpPr>
          <p:cNvPr id="3" name="Header"/>
          <p:cNvSpPr/>
          <p:nvPr/>
        </p:nvSpPr>
        <p:spPr>
          <a:xfrm>
            <a:off x="420000" y="180000"/>
            <a:ext cx="8300000" cy="720000"/>
          </a:xfrm>
          <a:prstGeom prst="rect">
            <a:avLst/>
          </a:prstGeom>
          <a:noFill/>
        </p:spPr>
        <p:txBody>
          <a:bodyPr/>
          <a:lstStyle/>
          <a:p>
            <a:r>
              <a:rPr lang="es-CO" sz="1050" b="1">
                <a:solidFill>
                  <a:srgbClr val="F59E0B"/>
                </a:solidFill>
              </a:rPr>
              <a:t>MÓDULO 3 • 2.5 HORAS • TEORÍA Y ARQUITECTURA GEOMAPIA</a:t>
            </a:r>
          </a:p>
          <a:p>
            <a:pPr spcBef="40000"/>
            <a:r>
              <a:rPr lang="es-CO" sz="2100" b="1">
                <a:solidFill>
                  <a:srgbClr val="FFFFFF"/>
                </a:solidFill>
              </a:rPr>
              <a:t>2. El Ecosistema Python Geoespacial Esencial</a:t>
            </a:r>
          </a:p>
        </p:txBody>
      </p:sp>
      <!-- Columna Izquierda -->
      <p:sp>
        <p:nvSpPr>
          <p:cNvPr id="4" name="LeftCol"/>
          <p:cNvSpPr/>
          <p:nvPr/>
        </p:nvSpPr>
        <p:spPr>
          <a:xfrm>
            <a:off x="420000" y="980000"/>
            <a:ext cx="4020000" cy="3050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txBody>
          <a:bodyPr lIns="200000" rIns="200000" tIns="180000" bIns="180000"/>
          <a:lstStyle/>
          <a:p>
            <a:r>
              <a:rPr lang="es-CO" sz="1450" b="1">
                <a:solidFill>
                  <a:srgbClr val="38BDF8"/>
                </a:solidFill>
              </a:rPr>
              <a:t>Manipulación de Datos (Pandas y GeoPandas)</a:t>
            </a:r>
          </a:p>
          <a:p>
            <a:pPr spcBef="90000"/>
            <a:r>
              <a:rPr lang="es-CO" sz="1250">
                <a:solidFill>
                  <a:srgbClr val="E2E8F0"/>
                </a:solidFill>
              </a:rPr>
              <a:t>▸ pandas: Lee archivos Excel (.xlsx) y CSV, filtra filas, calcula promedios y limpia nulos.</a:t>
            </a:r>
          </a:p>
          <a:p>
            <a:pPr spcBef="90000"/>
            <a:r>
              <a:rPr lang="es-CO" sz="1250">
                <a:solidFill>
                  <a:srgbClr val="E2E8F0"/>
                </a:solidFill>
              </a:rPr>
              <a:t>▸ geopandas: Extiende pandas agregando una columna 'geometry' (puntos, líneas, polígonos).</a:t>
            </a:r>
          </a:p>
          <a:p>
            <a:pPr spcBef="90000"/>
            <a:r>
              <a:rPr lang="es-CO" sz="1250">
                <a:solidFill>
                  <a:srgbClr val="E2E8F0"/>
                </a:solidFill>
              </a:rPr>
              <a:t>▸ Lee y escribe cualquier formato con una línea: gpd.read_file() y gdf.to_file().</a:t>
            </a:r>
          </a:p>
          <a:p>
            <a:pPr spcBef="90000"/>
            <a:r>
              <a:rPr lang="es-CO" sz="1250">
                <a:solidFill>
                  <a:srgbClr val="E2E8F0"/>
                </a:solidFill>
              </a:rPr>
              <a:t>▸ shapely y pyproj: Motores internos para geometría y transformación de coordenadas.</a:t>
            </a:r>
          </a:p>
        </p:txBody>
      </p:sp>
      <!-- Columna Derecha -->
      <p:sp>
        <p:nvSpPr>
          <p:cNvPr id="5" name="RightCol"/>
          <p:cNvSpPr/>
          <p:nvPr/>
        </p:nvSpPr>
        <p:spPr>
          <a:xfrm>
            <a:off x="4700000" y="980000"/>
            <a:ext cx="4020000" cy="3050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F59E0B"/>
            </a:solidFill>
          </a:ln>
        </p:spPr>
        <p:txBody>
          <a:bodyPr lIns="200000" rIns="200000" tIns="180000" bIns="180000"/>
          <a:lstStyle/>
          <a:p>
            <a:r>
              <a:rPr lang="es-CO" sz="1450" b="1">
                <a:solidFill>
                  <a:srgbClr val="34D399"/>
                </a:solidFill>
              </a:rPr>
              <a:t>Visualización Web desde Python</a:t>
            </a:r>
          </a:p>
          <a:p>
            <a:pPr spcBef="90000"/>
            <a:r>
              <a:rPr lang="es-CO" sz="1250">
                <a:solidFill>
                  <a:srgbClr val="E2E8F0"/>
                </a:solidFill>
              </a:rPr>
              <a:t>▸ folium: Envuelve Leaflet.js en Python; permite exportar mapas interactivos a .html.</a:t>
            </a:r>
          </a:p>
          <a:p>
            <a:pPr spcBef="90000"/>
            <a:r>
              <a:rPr lang="es-CO" sz="1250">
                <a:solidFill>
                  <a:srgbClr val="E2E8F0"/>
                </a:solidFill>
              </a:rPr>
              <a:t>▸ leafmap: Creado por Qiusheng Wu; ideal para Percepción Remota, COG y Split-Maps.</a:t>
            </a:r>
          </a:p>
          <a:p>
            <a:pPr spcBef="90000"/>
            <a:r>
              <a:rPr lang="es-CO" sz="1250">
                <a:solidFill>
                  <a:srgbClr val="E2E8F0"/>
                </a:solidFill>
              </a:rPr>
              <a:t>▸ geopy: Geocodificación gratuita (convierte direcciones de texto en Lat/Lon).</a:t>
            </a:r>
          </a:p>
          <a:p>
            <a:pPr spcBef="90000"/>
            <a:r>
              <a:rPr lang="es-CO" sz="1250">
                <a:solidFill>
                  <a:srgbClr val="E2E8F0"/>
                </a:solidFill>
              </a:rPr>
              <a:t>▸ En tu prompt indica qué librerías prefieres para que el script sea limpio.</a:t>
            </a:r>
          </a:p>
        </p:txBody>
      </p:sp>
      <!-- Caja Inferior de Concepto Clave -->
      <p:sp>
        <p:nvSpPr>
          <p:cNvPr id="6" name="BottomNote"/>
          <p:cNvSpPr/>
          <p:nvPr/>
        </p:nvSpPr>
        <p:spPr>
          <a:xfrm>
            <a:off x="420000" y="4160000"/>
            <a:ext cx="8300000" cy="540000"/>
          </a:xfrm>
          <a:prstGeom prst="roundRect">
            <a:avLst/>
          </a:prstGeom>
          <a:solidFill>
            <a:srgbClr val="090D16"/>
          </a:solidFill>
          <a:ln w="12700">
            <a:solidFill>
              <a:srgbClr val="F59E0B"/>
            </a:solidFill>
          </a:ln>
        </p:spPr>
        <p:txBody>
          <a:bodyPr lIns="180000" rIns="180000" anchor="ctr"/>
          <a:lstStyle/>
          <a:p>
            <a:r>
              <a:rPr lang="es-CO" sz="1200" b="1">
                <a:solidFill>
                  <a:srgbClr val="FBBF24"/>
                </a:solidFill>
              </a:rPr>
              <a:t>💡 CONCEPTO CLAVE: </a:t>
            </a:r>
            <a:r>
              <a:rPr lang="es-CO" sz="1200">
                <a:solidFill>
                  <a:srgbClr val="F8FAFC"/>
                </a:solidFill>
              </a:rPr>
              <a:t>En Google Colab puedes instalar GeoPandas y Folium con una sola celda: !pip install geopandas folium leafmap</a:t>
            </a:r>
          </a:p>
        </p:txBody>
      </p:sp>
      <!-- Pie de Diapositiva -->
      <p:sp>
        <p:nvSpPr>
          <p:cNvPr id="7" name="Footer"/>
          <p:cNvSpPr/>
          <p:nvPr/>
        </p:nvSpPr>
        <p:spPr>
          <a:xfrm>
            <a:off x="420000" y="4760000"/>
            <a:ext cx="8300000" cy="300000"/>
          </a:xfrm>
          <a:prstGeom prst="rect">
            <a:avLst/>
          </a:prstGeom>
          <a:noFill/>
        </p:spPr>
        <p:txBody>
          <a:bodyPr/>
          <a:lstStyle/>
          <a:p>
            <a:r>
              <a:rPr lang="es-CO" sz="950">
                <a:solidFill>
                  <a:srgbClr val="64748B"/>
                </a:solidFill>
              </a:rPr>
              <a:t>SELPER Colombia (selper.org.co) • Curso Autodidacta GeoMapIA • Diapositiva 3 de 10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!-- Barra superior de acento -->
      <p:sp>
        <p:nvSpPr>
          <p:cNvPr id="2" name="TopBar"/>
          <p:cNvSpPr/>
          <p:nvPr/>
        </p:nvSpPr>
        <p:spPr>
          <a:xfrm>
            <a:off x="0" y="0"/>
            <a:ext cx="9144000" cy="95000"/>
          </a:xfrm>
          <a:prstGeom prst="rect">
            <a:avLst/>
          </a:prstGeom>
          <a:solidFill>
            <a:srgbClr val="F59E0B"/>
          </a:solidFill>
        </p:spPr>
      </p:sp>
      <!-- Encabezado de la Diapositiva -->
      <p:sp>
        <p:nvSpPr>
          <p:cNvPr id="3" name="Header"/>
          <p:cNvSpPr/>
          <p:nvPr/>
        </p:nvSpPr>
        <p:spPr>
          <a:xfrm>
            <a:off x="420000" y="180000"/>
            <a:ext cx="8300000" cy="720000"/>
          </a:xfrm>
          <a:prstGeom prst="rect">
            <a:avLst/>
          </a:prstGeom>
          <a:noFill/>
        </p:spPr>
        <p:txBody>
          <a:bodyPr/>
          <a:lstStyle/>
          <a:p>
            <a:r>
              <a:rPr lang="es-CO" sz="1050" b="1">
                <a:solidFill>
                  <a:srgbClr val="F59E0B"/>
                </a:solidFill>
              </a:rPr>
              <a:t>MÓDULO 3 • 2.5 HORAS • TEORÍA Y ARQUITECTURA GEOMAPIA</a:t>
            </a:r>
          </a:p>
          <a:p>
            <a:pPr spcBef="40000"/>
            <a:r>
              <a:rPr lang="es-CO" sz="2100" b="1">
                <a:solidFill>
                  <a:srgbClr val="FFFFFF"/>
                </a:solidFill>
              </a:rPr>
              <a:t>3. Reproyección en Colombia: EPSG:9377 a EPSG:4326</a:t>
            </a:r>
          </a:p>
        </p:txBody>
      </p:sp>
      <!-- Columna Izquierda -->
      <p:sp>
        <p:nvSpPr>
          <p:cNvPr id="4" name="LeftCol"/>
          <p:cNvSpPr/>
          <p:nvPr/>
        </p:nvSpPr>
        <p:spPr>
          <a:xfrm>
            <a:off x="420000" y="980000"/>
            <a:ext cx="4020000" cy="3050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txBody>
          <a:bodyPr lIns="200000" rIns="200000" tIns="180000" bIns="180000"/>
          <a:lstStyle/>
          <a:p>
            <a:r>
              <a:rPr lang="es-CO" sz="1450" b="1">
                <a:solidFill>
                  <a:srgbClr val="38BDF8"/>
                </a:solidFill>
              </a:rPr>
              <a:t>Diagnóstico del Sistema de Referencia (CRS)</a:t>
            </a:r>
          </a:p>
          <a:p>
            <a:pPr spcBef="90000"/>
            <a:r>
              <a:rPr lang="es-CO" sz="1250">
                <a:solidFill>
                  <a:srgbClr val="E2E8F0"/>
                </a:solidFill>
              </a:rPr>
              <a:t>▸ En GeoPandas, gdf.crs muestra el sistema actual de tu capa.</a:t>
            </a:r>
          </a:p>
          <a:p>
            <a:pPr spcBef="90000"/>
            <a:r>
              <a:rPr lang="es-CO" sz="1250">
                <a:solidFill>
                  <a:srgbClr val="E2E8F0"/>
                </a:solidFill>
              </a:rPr>
              <a:t>▸ Capas nacionales del IGAC/DANE suelen venir en EPSG:9377 (Origen Nacional) o EPSG:3116.</a:t>
            </a:r>
          </a:p>
          <a:p>
            <a:pPr spcBef="90000"/>
            <a:r>
              <a:rPr lang="es-CO" sz="1250">
                <a:solidFill>
                  <a:srgbClr val="E2E8F0"/>
                </a:solidFill>
              </a:rPr>
              <a:t>▸ Sus coordenadas se ven así: X = 4885210.45, Y = 2065120.12 (metros).</a:t>
            </a:r>
          </a:p>
          <a:p>
            <a:pPr spcBef="90000"/>
            <a:r>
              <a:rPr lang="es-CO" sz="1250">
                <a:solidFill>
                  <a:srgbClr val="E2E8F0"/>
                </a:solidFill>
              </a:rPr>
              <a:t>▸ Para la web necesitamos grados decimales WGS84 (EPSG:4326): Lon = -74.08, Lat = 4.60.</a:t>
            </a:r>
          </a:p>
        </p:txBody>
      </p:sp>
      <!-- Columna Derecha -->
      <p:sp>
        <p:nvSpPr>
          <p:cNvPr id="5" name="RightCol"/>
          <p:cNvSpPr/>
          <p:nvPr/>
        </p:nvSpPr>
        <p:spPr>
          <a:xfrm>
            <a:off x="4700000" y="980000"/>
            <a:ext cx="4020000" cy="3050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F59E0B"/>
            </a:solidFill>
          </a:ln>
        </p:spPr>
        <p:txBody>
          <a:bodyPr lIns="200000" rIns="200000" tIns="180000" bIns="180000"/>
          <a:lstStyle/>
          <a:p>
            <a:r>
              <a:rPr lang="es-CO" sz="1450" b="1">
                <a:solidFill>
                  <a:srgbClr val="34D399"/>
                </a:solidFill>
              </a:rPr>
              <a:t>La Transformación Exacta en 1 Línea</a:t>
            </a:r>
          </a:p>
          <a:p>
            <a:pPr spcBef="90000"/>
            <a:r>
              <a:rPr lang="es-CO" sz="1250">
                <a:solidFill>
                  <a:srgbClr val="E2E8F0"/>
                </a:solidFill>
              </a:rPr>
              <a:t>▸ Comando clave: gdf_web = gdf.to_crs(epsg=4326).</a:t>
            </a:r>
          </a:p>
          <a:p>
            <a:pPr spcBef="90000"/>
            <a:r>
              <a:rPr lang="es-CO" sz="1250">
                <a:solidFill>
                  <a:srgbClr val="E2E8F0"/>
                </a:solidFill>
              </a:rPr>
              <a:t>▸ Si un archivo no tiene .prj definido, primero se asigna con gdf.set_crs(epsg=9377).</a:t>
            </a:r>
          </a:p>
          <a:p>
            <a:pPr spcBef="90000"/>
            <a:r>
              <a:rPr lang="es-CO" sz="1250">
                <a:solidFill>
                  <a:srgbClr val="E2E8F0"/>
                </a:solidFill>
              </a:rPr>
              <a:t>▸ En el Prompt 3.1 le pedimos a la IA que verifique automáticamente el CRS antes de exportar.</a:t>
            </a:r>
          </a:p>
          <a:p>
            <a:pPr spcBef="90000"/>
            <a:r>
              <a:rPr lang="es-CO" sz="1250">
                <a:solidFill>
                  <a:srgbClr val="E2E8F0"/>
                </a:solidFill>
              </a:rPr>
              <a:t>▸ Evita reproyectar manualmente capa por capa en software de escritorio.</a:t>
            </a:r>
          </a:p>
        </p:txBody>
      </p:sp>
      <!-- Caja Inferior de Concepto Clave -->
      <p:sp>
        <p:nvSpPr>
          <p:cNvPr id="6" name="BottomNote"/>
          <p:cNvSpPr/>
          <p:nvPr/>
        </p:nvSpPr>
        <p:spPr>
          <a:xfrm>
            <a:off x="420000" y="4160000"/>
            <a:ext cx="8300000" cy="540000"/>
          </a:xfrm>
          <a:prstGeom prst="roundRect">
            <a:avLst/>
          </a:prstGeom>
          <a:solidFill>
            <a:srgbClr val="090D16"/>
          </a:solidFill>
          <a:ln w="12700">
            <a:solidFill>
              <a:srgbClr val="F59E0B"/>
            </a:solidFill>
          </a:ln>
        </p:spPr>
        <p:txBody>
          <a:bodyPr lIns="180000" rIns="180000" anchor="ctr"/>
          <a:lstStyle/>
          <a:p>
            <a:r>
              <a:rPr lang="es-CO" sz="1200" b="1">
                <a:solidFill>
                  <a:srgbClr val="FBBF24"/>
                </a:solidFill>
              </a:rPr>
              <a:t>💡 CONCEPTO CLAVE: </a:t>
            </a:r>
            <a:r>
              <a:rPr lang="es-CO" sz="1200">
                <a:solidFill>
                  <a:srgbClr val="F8FAFC"/>
                </a:solidFill>
              </a:rPr>
              <a:t>Regla de oro antes de publicar en GitHub: verifica siempre que tu GeoJSON final esté en EPSG:4326.</a:t>
            </a:r>
          </a:p>
        </p:txBody>
      </p:sp>
      <!-- Pie de Diapositiva -->
      <p:sp>
        <p:nvSpPr>
          <p:cNvPr id="7" name="Footer"/>
          <p:cNvSpPr/>
          <p:nvPr/>
        </p:nvSpPr>
        <p:spPr>
          <a:xfrm>
            <a:off x="420000" y="4760000"/>
            <a:ext cx="8300000" cy="300000"/>
          </a:xfrm>
          <a:prstGeom prst="rect">
            <a:avLst/>
          </a:prstGeom>
          <a:noFill/>
        </p:spPr>
        <p:txBody>
          <a:bodyPr/>
          <a:lstStyle/>
          <a:p>
            <a:r>
              <a:rPr lang="es-CO" sz="950">
                <a:solidFill>
                  <a:srgbClr val="64748B"/>
                </a:solidFill>
              </a:rPr>
              <a:t>SELPER Colombia (selper.org.co) • Curso Autodidacta GeoMapIA • Diapositiva 4 de 10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!-- Barra superior de acento -->
      <p:sp>
        <p:nvSpPr>
          <p:cNvPr id="2" name="TopBar"/>
          <p:cNvSpPr/>
          <p:nvPr/>
        </p:nvSpPr>
        <p:spPr>
          <a:xfrm>
            <a:off x="0" y="0"/>
            <a:ext cx="9144000" cy="95000"/>
          </a:xfrm>
          <a:prstGeom prst="rect">
            <a:avLst/>
          </a:prstGeom>
          <a:solidFill>
            <a:srgbClr val="F59E0B"/>
          </a:solidFill>
        </p:spPr>
      </p:sp>
      <!-- Encabezado de la Diapositiva -->
      <p:sp>
        <p:nvSpPr>
          <p:cNvPr id="3" name="Header"/>
          <p:cNvSpPr/>
          <p:nvPr/>
        </p:nvSpPr>
        <p:spPr>
          <a:xfrm>
            <a:off x="420000" y="180000"/>
            <a:ext cx="8300000" cy="720000"/>
          </a:xfrm>
          <a:prstGeom prst="rect">
            <a:avLst/>
          </a:prstGeom>
          <a:noFill/>
        </p:spPr>
        <p:txBody>
          <a:bodyPr/>
          <a:lstStyle/>
          <a:p>
            <a:r>
              <a:rPr lang="es-CO" sz="1050" b="1">
                <a:solidFill>
                  <a:srgbClr val="F59E0B"/>
                </a:solidFill>
              </a:rPr>
              <a:t>MÓDULO 3 • 2.5 HORAS • TEORÍA Y ARQUITECTURA GEOMAPIA</a:t>
            </a:r>
          </a:p>
          <a:p>
            <a:pPr spcBef="40000"/>
            <a:r>
              <a:rPr lang="es-CO" sz="2100" b="1">
                <a:solidFill>
                  <a:srgbClr val="FFFFFF"/>
                </a:solidFill>
              </a:rPr>
              <a:t>4. Optimización y Adelgazamiento de Capas para la Web</a:t>
            </a:r>
          </a:p>
        </p:txBody>
      </p:sp>
      <!-- Columna Izquierda -->
      <p:sp>
        <p:nvSpPr>
          <p:cNvPr id="4" name="LeftCol"/>
          <p:cNvSpPr/>
          <p:nvPr/>
        </p:nvSpPr>
        <p:spPr>
          <a:xfrm>
            <a:off x="420000" y="980000"/>
            <a:ext cx="4020000" cy="3050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txBody>
          <a:bodyPr lIns="200000" rIns="200000" tIns="180000" bIns="180000"/>
          <a:lstStyle/>
          <a:p>
            <a:r>
              <a:rPr lang="es-CO" sz="1450" b="1">
                <a:solidFill>
                  <a:srgbClr val="38BDF8"/>
                </a:solidFill>
              </a:rPr>
              <a:t>¿Por qué pesa tanto un GeoJSON crudo?</a:t>
            </a:r>
          </a:p>
          <a:p>
            <a:pPr spcBef="90000"/>
            <a:r>
              <a:rPr lang="es-CO" sz="1250">
                <a:solidFill>
                  <a:srgbClr val="E2E8F0"/>
                </a:solidFill>
              </a:rPr>
              <a:t>▸ 1. Exceso de vértices: Un río o municipio digitalizado a escala 1:1.000 tiene millones de nodos.</a:t>
            </a:r>
          </a:p>
          <a:p>
            <a:pPr spcBef="90000"/>
            <a:r>
              <a:rPr lang="es-CO" sz="1250">
                <a:solidFill>
                  <a:srgbClr val="E2E8F0"/>
                </a:solidFill>
              </a:rPr>
              <a:t>▸ 2. Exceso de decimales: Coordenadas como -74.08174928374928 (14 decimales son sub-milimétricos).</a:t>
            </a:r>
          </a:p>
          <a:p>
            <a:pPr spcBef="90000"/>
            <a:r>
              <a:rPr lang="es-CO" sz="1250">
                <a:solidFill>
                  <a:srgbClr val="E2E8F0"/>
                </a:solidFill>
              </a:rPr>
              <a:t>▸ 3.Exceso de columnas: Tablas con 80 campos innecesarios que viajan por internet.</a:t>
            </a:r>
          </a:p>
          <a:p>
            <a:pPr spcBef="90000"/>
            <a:r>
              <a:rPr lang="es-CO" sz="1250">
                <a:solidFill>
                  <a:srgbClr val="E2E8F0"/>
                </a:solidFill>
              </a:rPr>
              <a:t>▸ Un visor web óptimo debe cargar capas de menos de 3 a 5 MB.</a:t>
            </a:r>
          </a:p>
        </p:txBody>
      </p:sp>
      <!-- Columna Derecha -->
      <p:sp>
        <p:nvSpPr>
          <p:cNvPr id="5" name="RightCol"/>
          <p:cNvSpPr/>
          <p:nvPr/>
        </p:nvSpPr>
        <p:spPr>
          <a:xfrm>
            <a:off x="4700000" y="980000"/>
            <a:ext cx="4020000" cy="3050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F59E0B"/>
            </a:solidFill>
          </a:ln>
        </p:spPr>
        <p:txBody>
          <a:bodyPr lIns="200000" rIns="200000" tIns="180000" bIns="180000"/>
          <a:lstStyle/>
          <a:p>
            <a:r>
              <a:rPr lang="es-CO" sz="1450" b="1">
                <a:solidFill>
                  <a:srgbClr val="34D399"/>
                </a:solidFill>
              </a:rPr>
              <a:t>Las 3 Técnicas de Reducción en Python</a:t>
            </a:r>
          </a:p>
          <a:p>
            <a:pPr spcBef="90000"/>
            <a:r>
              <a:rPr lang="es-CO" sz="1250">
                <a:solidFill>
                  <a:srgbClr val="E2E8F0"/>
                </a:solidFill>
              </a:rPr>
              <a:t>▸ 1. Simplificación topológica: gdf['geometry'] = gdf.simplify(0.0005, preserve_topology=True).</a:t>
            </a:r>
          </a:p>
          <a:p>
            <a:pPr spcBef="90000"/>
            <a:r>
              <a:rPr lang="es-CO" sz="1250">
                <a:solidFill>
                  <a:srgbClr val="E2E8F0"/>
                </a:solidFill>
              </a:rPr>
              <a:t>▸ 2. Filtrado de columnas: conservar solo las 5 o 6 variables que se muestran en el visor.</a:t>
            </a:r>
          </a:p>
          <a:p>
            <a:pPr spcBef="90000"/>
            <a:r>
              <a:rPr lang="es-CO" sz="1250">
                <a:solidFill>
                  <a:srgbClr val="E2E8F0"/>
                </a:solidFill>
              </a:rPr>
              <a:t>▸ 3. Redondeo de coordenadas a 5 decimales (~1 metro de precisión real en terreno).</a:t>
            </a:r>
          </a:p>
          <a:p>
            <a:pPr spcBef="90000"/>
            <a:r>
              <a:rPr lang="es-CO" sz="1250">
                <a:solidFill>
                  <a:srgbClr val="E2E8F0"/>
                </a:solidFill>
              </a:rPr>
              <a:t>▸ Resultado: Un archivo de 60 MB baja a 1.5 MB y carga instantáneamente en móviles.</a:t>
            </a:r>
          </a:p>
        </p:txBody>
      </p:sp>
      <!-- Caja Inferior de Concepto Clave -->
      <p:sp>
        <p:nvSpPr>
          <p:cNvPr id="6" name="BottomNote"/>
          <p:cNvSpPr/>
          <p:nvPr/>
        </p:nvSpPr>
        <p:spPr>
          <a:xfrm>
            <a:off x="420000" y="4160000"/>
            <a:ext cx="8300000" cy="540000"/>
          </a:xfrm>
          <a:prstGeom prst="roundRect">
            <a:avLst/>
          </a:prstGeom>
          <a:solidFill>
            <a:srgbClr val="090D16"/>
          </a:solidFill>
          <a:ln w="12700">
            <a:solidFill>
              <a:srgbClr val="F59E0B"/>
            </a:solidFill>
          </a:ln>
        </p:spPr>
        <p:txBody>
          <a:bodyPr lIns="180000" rIns="180000" anchor="ctr"/>
          <a:lstStyle/>
          <a:p>
            <a:r>
              <a:rPr lang="es-CO" sz="1200" b="1">
                <a:solidFill>
                  <a:srgbClr val="FBBF24"/>
                </a:solidFill>
              </a:rPr>
              <a:t>💡 CONCEPTO CLAVE: </a:t>
            </a:r>
            <a:r>
              <a:rPr lang="es-CO" sz="1200">
                <a:solidFill>
                  <a:srgbClr val="F8FAFC"/>
                </a:solidFill>
              </a:rPr>
              <a:t>preserve_topology=True asegura que los municipios vecinos no se separen ni creen huecos al simplificar.</a:t>
            </a:r>
          </a:p>
        </p:txBody>
      </p:sp>
      <!-- Pie de Diapositiva -->
      <p:sp>
        <p:nvSpPr>
          <p:cNvPr id="7" name="Footer"/>
          <p:cNvSpPr/>
          <p:nvPr/>
        </p:nvSpPr>
        <p:spPr>
          <a:xfrm>
            <a:off x="420000" y="4760000"/>
            <a:ext cx="8300000" cy="300000"/>
          </a:xfrm>
          <a:prstGeom prst="rect">
            <a:avLst/>
          </a:prstGeom>
          <a:noFill/>
        </p:spPr>
        <p:txBody>
          <a:bodyPr/>
          <a:lstStyle/>
          <a:p>
            <a:r>
              <a:rPr lang="es-CO" sz="950">
                <a:solidFill>
                  <a:srgbClr val="64748B"/>
                </a:solidFill>
              </a:rPr>
              <a:t>SELPER Colombia (selper.org.co) • Curso Autodidacta GeoMapIA • Diapositiva 5 de 10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!-- Barra superior de acento -->
      <p:sp>
        <p:nvSpPr>
          <p:cNvPr id="2" name="TopBar"/>
          <p:cNvSpPr/>
          <p:nvPr/>
        </p:nvSpPr>
        <p:spPr>
          <a:xfrm>
            <a:off x="0" y="0"/>
            <a:ext cx="9144000" cy="95000"/>
          </a:xfrm>
          <a:prstGeom prst="rect">
            <a:avLst/>
          </a:prstGeom>
          <a:solidFill>
            <a:srgbClr val="F59E0B"/>
          </a:solidFill>
        </p:spPr>
      </p:sp>
      <!-- Encabezado de la Diapositiva -->
      <p:sp>
        <p:nvSpPr>
          <p:cNvPr id="3" name="Header"/>
          <p:cNvSpPr/>
          <p:nvPr/>
        </p:nvSpPr>
        <p:spPr>
          <a:xfrm>
            <a:off x="420000" y="180000"/>
            <a:ext cx="8300000" cy="720000"/>
          </a:xfrm>
          <a:prstGeom prst="rect">
            <a:avLst/>
          </a:prstGeom>
          <a:noFill/>
        </p:spPr>
        <p:txBody>
          <a:bodyPr/>
          <a:lstStyle/>
          <a:p>
            <a:r>
              <a:rPr lang="es-CO" sz="1050" b="1">
                <a:solidFill>
                  <a:srgbClr val="F59E0B"/>
                </a:solidFill>
              </a:rPr>
              <a:t>MÓDULO 3 • 2.5 HORAS • TEORÍA Y ARQUITECTURA GEOMAPIA</a:t>
            </a:r>
          </a:p>
          <a:p>
            <a:pPr spcBef="40000"/>
            <a:r>
              <a:rPr lang="es-CO" sz="2100" b="1">
                <a:solidFill>
                  <a:srgbClr val="FFFFFF"/>
                </a:solidFill>
              </a:rPr>
              <a:t>5. Cruces Espaciales (Spatial Join) y Limpieza con IA</a:t>
            </a:r>
          </a:p>
        </p:txBody>
      </p:sp>
      <!-- Columna Izquierda -->
      <p:sp>
        <p:nvSpPr>
          <p:cNvPr id="4" name="LeftCol"/>
          <p:cNvSpPr/>
          <p:nvPr/>
        </p:nvSpPr>
        <p:spPr>
          <a:xfrm>
            <a:off x="420000" y="980000"/>
            <a:ext cx="4020000" cy="3050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txBody>
          <a:bodyPr lIns="200000" rIns="200000" tIns="180000" bIns="180000"/>
          <a:lstStyle/>
          <a:p>
            <a:r>
              <a:rPr lang="es-CO" sz="1450" b="1">
                <a:solidFill>
                  <a:srgbClr val="38BDF8"/>
                </a:solidFill>
              </a:rPr>
              <a:t>Cómo darle contexto de tus datos a la IA</a:t>
            </a:r>
          </a:p>
          <a:p>
            <a:pPr spcBef="90000"/>
            <a:r>
              <a:rPr lang="es-CO" sz="1250">
                <a:solidFill>
                  <a:srgbClr val="E2E8F0"/>
                </a:solidFill>
              </a:rPr>
              <a:t>▸ Ejecuta print(df.head(3)) y print(df.columns) en Python.</a:t>
            </a:r>
          </a:p>
          <a:p>
            <a:pPr spcBef="90000"/>
            <a:r>
              <a:rPr lang="es-CO" sz="1250">
                <a:solidFill>
                  <a:srgbClr val="E2E8F0"/>
                </a:solidFill>
              </a:rPr>
              <a:t>▸ Copia esas 5 líneas de salida y pégalas en el bloque [D] Datos de tu prompt.</a:t>
            </a:r>
          </a:p>
          <a:p>
            <a:pPr spcBef="90000"/>
            <a:r>
              <a:rPr lang="es-CO" sz="1250">
                <a:solidFill>
                  <a:srgbClr val="E2E8F0"/>
                </a:solidFill>
              </a:rPr>
              <a:t>▸ La IA verá los nombres exactos de tus columnas, tildes, mayúsculas y tipos de datos.</a:t>
            </a:r>
          </a:p>
          <a:p>
            <a:pPr spcBef="90000"/>
            <a:r>
              <a:rPr lang="es-CO" sz="1250">
                <a:solidFill>
                  <a:srgbClr val="E2E8F0"/>
                </a:solidFill>
              </a:rPr>
              <a:t>▸ Así el script generado nunca fallará por KeyError o columnas inexistentes.</a:t>
            </a:r>
          </a:p>
        </p:txBody>
      </p:sp>
      <!-- Columna Derecha -->
      <p:sp>
        <p:nvSpPr>
          <p:cNvPr id="5" name="RightCol"/>
          <p:cNvSpPr/>
          <p:nvPr/>
        </p:nvSpPr>
        <p:spPr>
          <a:xfrm>
            <a:off x="4700000" y="980000"/>
            <a:ext cx="4020000" cy="3050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F59E0B"/>
            </a:solidFill>
          </a:ln>
        </p:spPr>
        <p:txBody>
          <a:bodyPr lIns="200000" rIns="200000" tIns="180000" bIns="180000"/>
          <a:lstStyle/>
          <a:p>
            <a:r>
              <a:rPr lang="es-CO" sz="1450" b="1">
                <a:solidFill>
                  <a:srgbClr val="34D399"/>
                </a:solidFill>
              </a:rPr>
              <a:t>Operaciones Espaciales Automatizadas</a:t>
            </a:r>
          </a:p>
          <a:p>
            <a:pPr spcBef="90000"/>
            <a:r>
              <a:rPr lang="es-CO" sz="1250">
                <a:solidFill>
                  <a:srgbClr val="E2E8F0"/>
                </a:solidFill>
              </a:rPr>
              <a:t>▸ Cruce punto-polígono: gpd.sjoin(puntos_focos, poligonos_municipios, predicate='within').</a:t>
            </a:r>
          </a:p>
          <a:p>
            <a:pPr spcBef="90000"/>
            <a:r>
              <a:rPr lang="es-CO" sz="1250">
                <a:solidFill>
                  <a:srgbClr val="E2E8F0"/>
                </a:solidFill>
              </a:rPr>
              <a:t>▸ Agregación estadística: contar cuántos focos de calor o predios hay por municipio.</a:t>
            </a:r>
          </a:p>
          <a:p>
            <a:pPr spcBef="90000"/>
            <a:r>
              <a:rPr lang="es-CO" sz="1250">
                <a:solidFill>
                  <a:srgbClr val="E2E8F0"/>
                </a:solidFill>
              </a:rPr>
              <a:t>▸ Unión tabular (merge): unir estadísticas del DANE por código DIVIPOLA (codigo_dane).</a:t>
            </a:r>
          </a:p>
          <a:p>
            <a:pPr spcBef="90000"/>
            <a:r>
              <a:rPr lang="es-CO" sz="1250">
                <a:solidFill>
                  <a:srgbClr val="E2E8F0"/>
                </a:solidFill>
              </a:rPr>
              <a:t>▸ Exportación directa del resultado enriquecido a GeoJSON.</a:t>
            </a:r>
          </a:p>
        </p:txBody>
      </p:sp>
      <!-- Caja Inferior de Concepto Clave -->
      <p:sp>
        <p:nvSpPr>
          <p:cNvPr id="6" name="BottomNote"/>
          <p:cNvSpPr/>
          <p:nvPr/>
        </p:nvSpPr>
        <p:spPr>
          <a:xfrm>
            <a:off x="420000" y="4160000"/>
            <a:ext cx="8300000" cy="540000"/>
          </a:xfrm>
          <a:prstGeom prst="roundRect">
            <a:avLst/>
          </a:prstGeom>
          <a:solidFill>
            <a:srgbClr val="090D16"/>
          </a:solidFill>
          <a:ln w="12700">
            <a:solidFill>
              <a:srgbClr val="F59E0B"/>
            </a:solidFill>
          </a:ln>
        </p:spPr>
        <p:txBody>
          <a:bodyPr lIns="180000" rIns="180000" anchor="ctr"/>
          <a:lstStyle/>
          <a:p>
            <a:r>
              <a:rPr lang="es-CO" sz="1200" b="1">
                <a:solidFill>
                  <a:srgbClr val="FBBF24"/>
                </a:solidFill>
              </a:rPr>
              <a:t>💡 CONCEPTO CLAVE: </a:t>
            </a:r>
            <a:r>
              <a:rPr lang="es-CO" sz="1200">
                <a:solidFill>
                  <a:srgbClr val="F8FAFC"/>
                </a:solidFill>
              </a:rPr>
              <a:t>En lugar de hacer 10 pasos manuales en un SIG de escritorio, guardas un script reproducible.</a:t>
            </a:r>
          </a:p>
        </p:txBody>
      </p:sp>
      <!-- Pie de Diapositiva -->
      <p:sp>
        <p:nvSpPr>
          <p:cNvPr id="7" name="Footer"/>
          <p:cNvSpPr/>
          <p:nvPr/>
        </p:nvSpPr>
        <p:spPr>
          <a:xfrm>
            <a:off x="420000" y="4760000"/>
            <a:ext cx="8300000" cy="300000"/>
          </a:xfrm>
          <a:prstGeom prst="rect">
            <a:avLst/>
          </a:prstGeom>
          <a:noFill/>
        </p:spPr>
        <p:txBody>
          <a:bodyPr/>
          <a:lstStyle/>
          <a:p>
            <a:r>
              <a:rPr lang="es-CO" sz="950">
                <a:solidFill>
                  <a:srgbClr val="64748B"/>
                </a:solidFill>
              </a:rPr>
              <a:t>SELPER Colombia (selper.org.co) • Curso Autodidacta GeoMapIA • Diapositiva 6 de 10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!-- Barra superior de acento -->
      <p:sp>
        <p:nvSpPr>
          <p:cNvPr id="2" name="TopBar"/>
          <p:cNvSpPr/>
          <p:nvPr/>
        </p:nvSpPr>
        <p:spPr>
          <a:xfrm>
            <a:off x="0" y="0"/>
            <a:ext cx="9144000" cy="95000"/>
          </a:xfrm>
          <a:prstGeom prst="rect">
            <a:avLst/>
          </a:prstGeom>
          <a:solidFill>
            <a:srgbClr val="F59E0B"/>
          </a:solidFill>
        </p:spPr>
      </p:sp>
      <!-- Encabezado de la Diapositiva -->
      <p:sp>
        <p:nvSpPr>
          <p:cNvPr id="3" name="Header"/>
          <p:cNvSpPr/>
          <p:nvPr/>
        </p:nvSpPr>
        <p:spPr>
          <a:xfrm>
            <a:off x="420000" y="180000"/>
            <a:ext cx="8300000" cy="720000"/>
          </a:xfrm>
          <a:prstGeom prst="rect">
            <a:avLst/>
          </a:prstGeom>
          <a:noFill/>
        </p:spPr>
        <p:txBody>
          <a:bodyPr/>
          <a:lstStyle/>
          <a:p>
            <a:r>
              <a:rPr lang="es-CO" sz="1050" b="1">
                <a:solidFill>
                  <a:srgbClr val="F59E0B"/>
                </a:solidFill>
              </a:rPr>
              <a:t>MÓDULO 3 • 2.5 HORAS • TEORÍA Y ARQUITECTURA GEOMAPIA</a:t>
            </a:r>
          </a:p>
          <a:p>
            <a:pPr spcBef="40000"/>
            <a:r>
              <a:rPr lang="es-CO" sz="2100" b="1">
                <a:solidFill>
                  <a:srgbClr val="FFFFFF"/>
                </a:solidFill>
              </a:rPr>
              <a:t>6. Percepción Remota Web: Comparadores Split-Map</a:t>
            </a:r>
          </a:p>
        </p:txBody>
      </p:sp>
      <!-- Columna Izquierda -->
      <p:sp>
        <p:nvSpPr>
          <p:cNvPr id="4" name="LeftCol"/>
          <p:cNvSpPr/>
          <p:nvPr/>
        </p:nvSpPr>
        <p:spPr>
          <a:xfrm>
            <a:off x="420000" y="980000"/>
            <a:ext cx="4020000" cy="3050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txBody>
          <a:bodyPr lIns="200000" rIns="200000" tIns="180000" bIns="180000"/>
          <a:lstStyle/>
          <a:p>
            <a:r>
              <a:rPr lang="es-CO" sz="1450" b="1">
                <a:solidFill>
                  <a:srgbClr val="38BDF8"/>
                </a:solidFill>
              </a:rPr>
              <a:t>¿Qué es un Split-Map (Mapa de Cortina)?</a:t>
            </a:r>
          </a:p>
          <a:p>
            <a:pPr spcBef="90000"/>
            <a:r>
              <a:rPr lang="es-CO" sz="1250">
                <a:solidFill>
                  <a:srgbClr val="E2E8F0"/>
                </a:solidFill>
              </a:rPr>
              <a:t>▸ Divide el visor con una barra vertical deslizante para comparar dos capas sincronizadas.</a:t>
            </a:r>
          </a:p>
          <a:p>
            <a:pPr spcBef="90000"/>
            <a:r>
              <a:rPr lang="es-CO" sz="1250">
                <a:solidFill>
                  <a:srgbClr val="E2E8F0"/>
                </a:solidFill>
              </a:rPr>
              <a:t>▸ Aplicación 1: Antes y Después de un incendio forestal, inundación o deforestación.</a:t>
            </a:r>
          </a:p>
          <a:p>
            <a:pPr spcBef="90000"/>
            <a:r>
              <a:rPr lang="es-CO" sz="1250">
                <a:solidFill>
                  <a:srgbClr val="E2E8F0"/>
                </a:solidFill>
              </a:rPr>
              <a:t>▸ Aplicación 2: Imagen Satelital Óptica RGB (izquierda) vs Índice NDVI o Relieve (derecha).</a:t>
            </a:r>
          </a:p>
          <a:p>
            <a:pPr spcBef="90000"/>
            <a:r>
              <a:rPr lang="es-CO" sz="1250">
                <a:solidFill>
                  <a:srgbClr val="E2E8F0"/>
                </a:solidFill>
              </a:rPr>
              <a:t>▸ Aplicación 3: Ortofoto histórica vs Catastro multipropósito actual.</a:t>
            </a:r>
          </a:p>
        </p:txBody>
      </p:sp>
      <!-- Columna Derecha -->
      <p:sp>
        <p:nvSpPr>
          <p:cNvPr id="5" name="RightCol"/>
          <p:cNvSpPr/>
          <p:nvPr/>
        </p:nvSpPr>
        <p:spPr>
          <a:xfrm>
            <a:off x="4700000" y="980000"/>
            <a:ext cx="4020000" cy="3050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F59E0B"/>
            </a:solidFill>
          </a:ln>
        </p:spPr>
        <p:txBody>
          <a:bodyPr lIns="200000" rIns="200000" tIns="180000" bIns="180000"/>
          <a:lstStyle/>
          <a:p>
            <a:r>
              <a:rPr lang="es-CO" sz="1450" b="1">
                <a:solidFill>
                  <a:srgbClr val="34D399"/>
                </a:solidFill>
              </a:rPr>
              <a:t>Cómo se construye con Python o JS</a:t>
            </a:r>
          </a:p>
          <a:p>
            <a:pPr spcBef="90000"/>
            <a:r>
              <a:rPr lang="es-CO" sz="1250">
                <a:solidFill>
                  <a:srgbClr val="E2E8F0"/>
                </a:solidFill>
              </a:rPr>
              <a:t>▸ En Python: Leafmap (m.split_map(left_layer, right_layer)) o Folium DualMap.</a:t>
            </a:r>
          </a:p>
          <a:p>
            <a:pPr spcBef="90000"/>
            <a:r>
              <a:rPr lang="es-CO" sz="1250">
                <a:solidFill>
                  <a:srgbClr val="E2E8F0"/>
                </a:solidFill>
              </a:rPr>
              <a:t>▸ En HTML/JS puro: Sincronización de recorte CSS (clip: rect(...)) sobre dos TileLayers.</a:t>
            </a:r>
          </a:p>
          <a:p>
            <a:pPr spcBef="90000"/>
            <a:r>
              <a:rPr lang="es-CO" sz="1250">
                <a:solidFill>
                  <a:srgbClr val="E2E8F0"/>
                </a:solidFill>
              </a:rPr>
              <a:t>▸ Permite añadir botones de salto rápido (flyTo) a zonas críticas de estudio.</a:t>
            </a:r>
          </a:p>
          <a:p>
            <a:pPr spcBef="90000"/>
            <a:r>
              <a:rPr lang="es-CO" sz="1250">
                <a:solidFill>
                  <a:srgbClr val="E2E8F0"/>
                </a:solidFill>
              </a:rPr>
              <a:t>▸ Nuestro entregable comparador-satelital-split.html implementa este patrón completo.</a:t>
            </a:r>
          </a:p>
        </p:txBody>
      </p:sp>
      <!-- Caja Inferior de Concepto Clave -->
      <p:sp>
        <p:nvSpPr>
          <p:cNvPr id="6" name="BottomNote"/>
          <p:cNvSpPr/>
          <p:nvPr/>
        </p:nvSpPr>
        <p:spPr>
          <a:xfrm>
            <a:off x="420000" y="4160000"/>
            <a:ext cx="8300000" cy="540000"/>
          </a:xfrm>
          <a:prstGeom prst="roundRect">
            <a:avLst/>
          </a:prstGeom>
          <a:solidFill>
            <a:srgbClr val="090D16"/>
          </a:solidFill>
          <a:ln w="12700">
            <a:solidFill>
              <a:srgbClr val="F59E0B"/>
            </a:solidFill>
          </a:ln>
        </p:spPr>
        <p:txBody>
          <a:bodyPr lIns="180000" rIns="180000" anchor="ctr"/>
          <a:lstStyle/>
          <a:p>
            <a:r>
              <a:rPr lang="es-CO" sz="1200" b="1">
                <a:solidFill>
                  <a:srgbClr val="FBBF24"/>
                </a:solidFill>
              </a:rPr>
              <a:t>💡 CONCEPTO CLAVE: </a:t>
            </a:r>
            <a:r>
              <a:rPr lang="es-CO" sz="1200">
                <a:solidFill>
                  <a:srgbClr val="F8FAFC"/>
                </a:solidFill>
              </a:rPr>
              <a:t>El Split-Map es una de las herramientas de comunicación visual más impactantes para proyectos de SELPER.</a:t>
            </a:r>
          </a:p>
        </p:txBody>
      </p:sp>
      <!-- Pie de Diapositiva -->
      <p:sp>
        <p:nvSpPr>
          <p:cNvPr id="7" name="Footer"/>
          <p:cNvSpPr/>
          <p:nvPr/>
        </p:nvSpPr>
        <p:spPr>
          <a:xfrm>
            <a:off x="420000" y="4760000"/>
            <a:ext cx="8300000" cy="300000"/>
          </a:xfrm>
          <a:prstGeom prst="rect">
            <a:avLst/>
          </a:prstGeom>
          <a:noFill/>
        </p:spPr>
        <p:txBody>
          <a:bodyPr/>
          <a:lstStyle/>
          <a:p>
            <a:r>
              <a:rPr lang="es-CO" sz="950">
                <a:solidFill>
                  <a:srgbClr val="64748B"/>
                </a:solidFill>
              </a:rPr>
              <a:t>SELPER Colombia (selper.org.co) • Curso Autodidacta GeoMapIA • Diapositiva 7 de 10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!-- Barra superior de acento -->
      <p:sp>
        <p:nvSpPr>
          <p:cNvPr id="2" name="TopBar"/>
          <p:cNvSpPr/>
          <p:nvPr/>
        </p:nvSpPr>
        <p:spPr>
          <a:xfrm>
            <a:off x="0" y="0"/>
            <a:ext cx="9144000" cy="95000"/>
          </a:xfrm>
          <a:prstGeom prst="rect">
            <a:avLst/>
          </a:prstGeom>
          <a:solidFill>
            <a:srgbClr val="F59E0B"/>
          </a:solidFill>
        </p:spPr>
      </p:sp>
      <!-- Encabezado de la Diapositiva -->
      <p:sp>
        <p:nvSpPr>
          <p:cNvPr id="3" name="Header"/>
          <p:cNvSpPr/>
          <p:nvPr/>
        </p:nvSpPr>
        <p:spPr>
          <a:xfrm>
            <a:off x="420000" y="180000"/>
            <a:ext cx="8300000" cy="720000"/>
          </a:xfrm>
          <a:prstGeom prst="rect">
            <a:avLst/>
          </a:prstGeom>
          <a:noFill/>
        </p:spPr>
        <p:txBody>
          <a:bodyPr/>
          <a:lstStyle/>
          <a:p>
            <a:r>
              <a:rPr lang="es-CO" sz="1050" b="1">
                <a:solidFill>
                  <a:srgbClr val="F59E0B"/>
                </a:solidFill>
              </a:rPr>
              <a:t>MÓDULO 3 • 2.5 HORAS • TEORÍA Y ARQUITECTURA GEOMAPIA</a:t>
            </a:r>
          </a:p>
          <a:p>
            <a:pPr spcBef="40000"/>
            <a:r>
              <a:rPr lang="es-CO" sz="2100" b="1">
                <a:solidFill>
                  <a:srgbClr val="FFFFFF"/>
                </a:solidFill>
              </a:rPr>
              <a:t>7. Mapas de Calor (Heatmaps) de Fenómenos Espaciales</a:t>
            </a:r>
          </a:p>
        </p:txBody>
      </p:sp>
      <!-- Columna Izquierda -->
      <p:sp>
        <p:nvSpPr>
          <p:cNvPr id="4" name="LeftCol"/>
          <p:cNvSpPr/>
          <p:nvPr/>
        </p:nvSpPr>
        <p:spPr>
          <a:xfrm>
            <a:off x="420000" y="980000"/>
            <a:ext cx="4020000" cy="3050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txBody>
          <a:bodyPr lIns="200000" rIns="200000" tIns="180000" bIns="180000"/>
          <a:lstStyle/>
          <a:p>
            <a:r>
              <a:rPr lang="es-CO" sz="1450" b="1">
                <a:solidFill>
                  <a:srgbClr val="38BDF8"/>
                </a:solidFill>
              </a:rPr>
              <a:t>Teoría de Densidad Kernel en el Navegador</a:t>
            </a:r>
          </a:p>
          <a:p>
            <a:pPr spcBef="90000"/>
            <a:r>
              <a:rPr lang="es-CO" sz="1250">
                <a:solidFill>
                  <a:srgbClr val="E2E8F0"/>
                </a:solidFill>
              </a:rPr>
              <a:t>▸ Transforma nubes de puntos (ej. alertas térmicas MODIS/VIIRS de FIRMS) en una superficie continua.</a:t>
            </a:r>
          </a:p>
          <a:p>
            <a:pPr spcBef="90000"/>
            <a:r>
              <a:rPr lang="es-CO" sz="1250">
                <a:solidFill>
                  <a:srgbClr val="E2E8F0"/>
                </a:solidFill>
              </a:rPr>
              <a:t>▸ Cada punto aporta intensidad según un peso opcional [latitud, longitud, intensidad].</a:t>
            </a:r>
          </a:p>
          <a:p>
            <a:pPr spcBef="90000"/>
            <a:r>
              <a:rPr lang="es-CO" sz="1250">
                <a:solidFill>
                  <a:srgbClr val="E2E8F0"/>
                </a:solidFill>
              </a:rPr>
              <a:t>▸ Parámetros clave: radius (radio de influencia en píxeles), blur (suavizado) y gradient.</a:t>
            </a:r>
          </a:p>
          <a:p>
            <a:pPr spcBef="90000"/>
            <a:r>
              <a:rPr lang="es-CO" sz="1250">
                <a:solidFill>
                  <a:srgbClr val="E2E8F0"/>
                </a:solidFill>
              </a:rPr>
              <a:t>▸ Se recalcula dinámicamente a medida que el usuario acerca o aleja el zoom.</a:t>
            </a:r>
          </a:p>
        </p:txBody>
      </p:sp>
      <!-- Columna Derecha -->
      <p:sp>
        <p:nvSpPr>
          <p:cNvPr id="5" name="RightCol"/>
          <p:cNvSpPr/>
          <p:nvPr/>
        </p:nvSpPr>
        <p:spPr>
          <a:xfrm>
            <a:off x="4700000" y="980000"/>
            <a:ext cx="4020000" cy="3050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F59E0B"/>
            </a:solidFill>
          </a:ln>
        </p:spPr>
        <p:txBody>
          <a:bodyPr lIns="200000" rIns="200000" tIns="180000" bIns="180000"/>
          <a:lstStyle/>
          <a:p>
            <a:r>
              <a:rPr lang="es-CO" sz="1450" b="1">
                <a:solidFill>
                  <a:srgbClr val="34D399"/>
                </a:solidFill>
              </a:rPr>
              <a:t>Cuándo usar Heatmap vs MarkerCluster</a:t>
            </a:r>
          </a:p>
          <a:p>
            <a:pPr spcBef="90000"/>
            <a:r>
              <a:rPr lang="es-CO" sz="1250">
                <a:solidFill>
                  <a:srgbClr val="E2E8F0"/>
                </a:solidFill>
              </a:rPr>
              <a:t>▸ Usa Heatmap cuando importa el patrón de concentración espacial (focos de calor, delitos, casos).</a:t>
            </a:r>
          </a:p>
          <a:p>
            <a:pPr spcBef="90000"/>
            <a:r>
              <a:rPr lang="es-CO" sz="1250">
                <a:solidFill>
                  <a:srgbClr val="E2E8F0"/>
                </a:solidFill>
              </a:rPr>
              <a:t>▸ Usa MarkerCluster cuando el usuario necesita hacer clic en cada individuo para leer su ficha.</a:t>
            </a:r>
          </a:p>
          <a:p>
            <a:pPr spcBef="90000"/>
            <a:r>
              <a:rPr lang="es-CO" sz="1250">
                <a:solidFill>
                  <a:srgbClr val="E2E8F0"/>
                </a:solidFill>
              </a:rPr>
              <a:t>▸ ¡Ambos pueden combinarse como capas opcionales en el mismo visor!</a:t>
            </a:r>
          </a:p>
          <a:p>
            <a:pPr spcBef="90000"/>
            <a:r>
              <a:rPr lang="es-CO" sz="1250">
                <a:solidFill>
                  <a:srgbClr val="E2E8F0"/>
                </a:solidFill>
              </a:rPr>
              <a:t>▸ En Python se genera con folium.plugins.HeatMap(datos).add_to(mapa).</a:t>
            </a:r>
          </a:p>
        </p:txBody>
      </p:sp>
      <!-- Caja Inferior de Concepto Clave -->
      <p:sp>
        <p:nvSpPr>
          <p:cNvPr id="6" name="BottomNote"/>
          <p:cNvSpPr/>
          <p:nvPr/>
        </p:nvSpPr>
        <p:spPr>
          <a:xfrm>
            <a:off x="420000" y="4160000"/>
            <a:ext cx="8300000" cy="540000"/>
          </a:xfrm>
          <a:prstGeom prst="roundRect">
            <a:avLst/>
          </a:prstGeom>
          <a:solidFill>
            <a:srgbClr val="090D16"/>
          </a:solidFill>
          <a:ln w="12700">
            <a:solidFill>
              <a:srgbClr val="F59E0B"/>
            </a:solidFill>
          </a:ln>
        </p:spPr>
        <p:txBody>
          <a:bodyPr lIns="180000" rIns="180000" anchor="ctr"/>
          <a:lstStyle/>
          <a:p>
            <a:r>
              <a:rPr lang="es-CO" sz="1200" b="1">
                <a:solidFill>
                  <a:srgbClr val="FBBF24"/>
                </a:solidFill>
              </a:rPr>
              <a:t>💡 CONCEPTO CLAVE: </a:t>
            </a:r>
            <a:r>
              <a:rPr lang="es-CO" sz="1200">
                <a:solidFill>
                  <a:srgbClr val="F8FAFC"/>
                </a:solidFill>
              </a:rPr>
              <a:t>Un buen gradiente térmico va de azul/cian (baja densidad) pasando por amarillo hasta rojo intenso (núcleo).</a:t>
            </a:r>
          </a:p>
        </p:txBody>
      </p:sp>
      <!-- Pie de Diapositiva -->
      <p:sp>
        <p:nvSpPr>
          <p:cNvPr id="7" name="Footer"/>
          <p:cNvSpPr/>
          <p:nvPr/>
        </p:nvSpPr>
        <p:spPr>
          <a:xfrm>
            <a:off x="420000" y="4760000"/>
            <a:ext cx="8300000" cy="300000"/>
          </a:xfrm>
          <a:prstGeom prst="rect">
            <a:avLst/>
          </a:prstGeom>
          <a:noFill/>
        </p:spPr>
        <p:txBody>
          <a:bodyPr/>
          <a:lstStyle/>
          <a:p>
            <a:r>
              <a:rPr lang="es-CO" sz="950">
                <a:solidFill>
                  <a:srgbClr val="64748B"/>
                </a:solidFill>
              </a:rPr>
              <a:t>SELPER Colombia (selper.org.co) • Curso Autodidacta GeoMapIA • Diapositiva 8 de 10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!-- Barra superior de acento -->
      <p:sp>
        <p:nvSpPr>
          <p:cNvPr id="2" name="TopBar"/>
          <p:cNvSpPr/>
          <p:nvPr/>
        </p:nvSpPr>
        <p:spPr>
          <a:xfrm>
            <a:off x="0" y="0"/>
            <a:ext cx="9144000" cy="95000"/>
          </a:xfrm>
          <a:prstGeom prst="rect">
            <a:avLst/>
          </a:prstGeom>
          <a:solidFill>
            <a:srgbClr val="F59E0B"/>
          </a:solidFill>
        </p:spPr>
      </p:sp>
      <!-- Encabezado de la Diapositiva -->
      <p:sp>
        <p:nvSpPr>
          <p:cNvPr id="3" name="Header"/>
          <p:cNvSpPr/>
          <p:nvPr/>
        </p:nvSpPr>
        <p:spPr>
          <a:xfrm>
            <a:off x="420000" y="180000"/>
            <a:ext cx="8300000" cy="720000"/>
          </a:xfrm>
          <a:prstGeom prst="rect">
            <a:avLst/>
          </a:prstGeom>
          <a:noFill/>
        </p:spPr>
        <p:txBody>
          <a:bodyPr/>
          <a:lstStyle/>
          <a:p>
            <a:r>
              <a:rPr lang="es-CO" sz="1050" b="1">
                <a:solidFill>
                  <a:srgbClr val="F59E0B"/>
                </a:solidFill>
              </a:rPr>
              <a:t>MÓDULO 3 • 2.5 HORAS • TEORÍA Y ARQUITECTURA GEOMAPIA</a:t>
            </a:r>
          </a:p>
          <a:p>
            <a:pPr spcBef="40000"/>
            <a:r>
              <a:rPr lang="es-CO" sz="2100" b="1">
                <a:solidFill>
                  <a:srgbClr val="FFFFFF"/>
                </a:solidFill>
              </a:rPr>
              <a:t>8. Ejecución del Pipeline Python del Módulo 3</a:t>
            </a:r>
          </a:p>
        </p:txBody>
      </p:sp>
      <!-- Columna Izquierda -->
      <p:sp>
        <p:nvSpPr>
          <p:cNvPr id="4" name="LeftCol"/>
          <p:cNvSpPr/>
          <p:nvPr/>
        </p:nvSpPr>
        <p:spPr>
          <a:xfrm>
            <a:off x="420000" y="980000"/>
            <a:ext cx="4020000" cy="3050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txBody>
          <a:bodyPr lIns="200000" rIns="200000" tIns="180000" bIns="180000"/>
          <a:lstStyle/>
          <a:p>
            <a:r>
              <a:rPr lang="es-CO" sz="1450" b="1">
                <a:solidFill>
                  <a:srgbClr val="38BDF8"/>
                </a:solidFill>
              </a:rPr>
              <a:t>Nuestro Script procesamiento_y_mapas.py</a:t>
            </a:r>
          </a:p>
          <a:p>
            <a:pPr spcBef="90000"/>
            <a:r>
              <a:rPr lang="es-CO" sz="1250">
                <a:solidFill>
                  <a:srgbClr val="E2E8F0"/>
                </a:solidFill>
              </a:rPr>
              <a:t>▸ Lee data/muestreo_agro_campo.csv con 20 lotes agrícolas en distintas regiones de Colombia.</a:t>
            </a:r>
          </a:p>
          <a:p>
            <a:pPr spcBef="90000"/>
            <a:r>
              <a:rPr lang="es-CO" sz="1250">
                <a:solidFill>
                  <a:srgbClr val="E2E8F0"/>
                </a:solidFill>
              </a:rPr>
              <a:t>▸ Valida coordenadas, redondea a 5 decimales y estructura propiedades temáticas.</a:t>
            </a:r>
          </a:p>
          <a:p>
            <a:pPr spcBef="90000"/>
            <a:r>
              <a:rPr lang="es-CO" sz="1250">
                <a:solidFill>
                  <a:srgbClr val="E2E8F0"/>
                </a:solidFill>
              </a:rPr>
              <a:t>▸ Exporta automáticamente data/muestreo_agro_optimizado.geojson.</a:t>
            </a:r>
          </a:p>
          <a:p>
            <a:pPr spcBef="90000"/>
            <a:r>
              <a:rPr lang="es-CO" sz="1250">
                <a:solidFill>
                  <a:srgbClr val="E2E8F0"/>
                </a:solidFill>
              </a:rPr>
              <a:t>▸ Incluye la plantilla completa de reproyección EPSG:9377 -&gt; EPSG:4326 con GeoPandas.</a:t>
            </a:r>
          </a:p>
        </p:txBody>
      </p:sp>
      <!-- Columna Derecha -->
      <p:sp>
        <p:nvSpPr>
          <p:cNvPr id="5" name="RightCol"/>
          <p:cNvSpPr/>
          <p:nvPr/>
        </p:nvSpPr>
        <p:spPr>
          <a:xfrm>
            <a:off x="4700000" y="980000"/>
            <a:ext cx="4020000" cy="3050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F59E0B"/>
            </a:solidFill>
          </a:ln>
        </p:spPr>
        <p:txBody>
          <a:bodyPr lIns="200000" rIns="200000" tIns="180000" bIns="180000"/>
          <a:lstStyle/>
          <a:p>
            <a:r>
              <a:rPr lang="es-CO" sz="1450" b="1">
                <a:solidFill>
                  <a:srgbClr val="34D399"/>
                </a:solidFill>
              </a:rPr>
              <a:t>Cómo probarlo y adaptarlo a tus datos</a:t>
            </a:r>
          </a:p>
          <a:p>
            <a:pPr spcBef="90000"/>
            <a:r>
              <a:rPr lang="es-CO" sz="1250">
                <a:solidFill>
                  <a:srgbClr val="E2E8F0"/>
                </a:solidFill>
              </a:rPr>
              <a:t>▸ Ejecuta en terminal: python3 modulos/modulo-3-python-geodatos/procesamiento_y_mapas.py</a:t>
            </a:r>
          </a:p>
          <a:p>
            <a:pPr spcBef="90000"/>
            <a:r>
              <a:rPr lang="es-CO" sz="1250">
                <a:solidFill>
                  <a:srgbClr val="E2E8F0"/>
                </a:solidFill>
              </a:rPr>
              <a:t>▸ Reemplaza el CSV de ejemplo por una tabla propia de tu entidad o investigación.</a:t>
            </a:r>
          </a:p>
          <a:p>
            <a:pPr spcBef="90000"/>
            <a:r>
              <a:rPr lang="es-CO" sz="1250">
                <a:solidFill>
                  <a:srgbClr val="E2E8F0"/>
                </a:solidFill>
              </a:rPr>
              <a:t>▸ Usa el Prompt 3.1 del Playbook para pedirle a Claude/Gemini cruces adicionales.</a:t>
            </a:r>
          </a:p>
          <a:p>
            <a:pPr spcBef="90000"/>
            <a:r>
              <a:rPr lang="es-CO" sz="1250">
                <a:solidFill>
                  <a:srgbClr val="E2E8F0"/>
                </a:solidFill>
              </a:rPr>
              <a:t>▸ Conecta el GeoJSON resultante directamente a tus visores de los Módulos 2 y 4.</a:t>
            </a:r>
          </a:p>
        </p:txBody>
      </p:sp>
      <!-- Caja Inferior de Concepto Clave -->
      <p:sp>
        <p:nvSpPr>
          <p:cNvPr id="6" name="BottomNote"/>
          <p:cNvSpPr/>
          <p:nvPr/>
        </p:nvSpPr>
        <p:spPr>
          <a:xfrm>
            <a:off x="420000" y="4160000"/>
            <a:ext cx="8300000" cy="540000"/>
          </a:xfrm>
          <a:prstGeom prst="roundRect">
            <a:avLst/>
          </a:prstGeom>
          <a:solidFill>
            <a:srgbClr val="090D16"/>
          </a:solidFill>
          <a:ln w="12700">
            <a:solidFill>
              <a:srgbClr val="F59E0B"/>
            </a:solidFill>
          </a:ln>
        </p:spPr>
        <p:txBody>
          <a:bodyPr lIns="180000" rIns="180000" anchor="ctr"/>
          <a:lstStyle/>
          <a:p>
            <a:r>
              <a:rPr lang="es-CO" sz="1200" b="1">
                <a:solidFill>
                  <a:srgbClr val="FBBF24"/>
                </a:solidFill>
              </a:rPr>
              <a:t>💡 CONCEPTO CLAVE: </a:t>
            </a:r>
            <a:r>
              <a:rPr lang="es-CO" sz="1200">
                <a:solidFill>
                  <a:srgbClr val="F8FAFC"/>
                </a:solidFill>
              </a:rPr>
              <a:t>Este flujo separa limpiamente los datos (/data) de la visualización (/modulos).</a:t>
            </a:r>
          </a:p>
        </p:txBody>
      </p:sp>
      <!-- Pie de Diapositiva -->
      <p:sp>
        <p:nvSpPr>
          <p:cNvPr id="7" name="Footer"/>
          <p:cNvSpPr/>
          <p:nvPr/>
        </p:nvSpPr>
        <p:spPr>
          <a:xfrm>
            <a:off x="420000" y="4760000"/>
            <a:ext cx="8300000" cy="300000"/>
          </a:xfrm>
          <a:prstGeom prst="rect">
            <a:avLst/>
          </a:prstGeom>
          <a:noFill/>
        </p:spPr>
        <p:txBody>
          <a:bodyPr/>
          <a:lstStyle/>
          <a:p>
            <a:r>
              <a:rPr lang="es-CO" sz="950">
                <a:solidFill>
                  <a:srgbClr val="64748B"/>
                </a:solidFill>
              </a:rPr>
              <a:t>SELPER Colombia (selper.org.co) • Curso Autodidacta GeoMapIA • Diapositiva 9 de 10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!-- Barra superior de acento -->
      <p:sp>
        <p:nvSpPr>
          <p:cNvPr id="2" name="TopBar"/>
          <p:cNvSpPr/>
          <p:nvPr/>
        </p:nvSpPr>
        <p:spPr>
          <a:xfrm>
            <a:off x="0" y="0"/>
            <a:ext cx="9144000" cy="95000"/>
          </a:xfrm>
          <a:prstGeom prst="rect">
            <a:avLst/>
          </a:prstGeom>
          <a:solidFill>
            <a:srgbClr val="F59E0B"/>
          </a:solidFill>
        </p:spPr>
      </p:sp>
      <!-- Encabezado de la Diapositiva -->
      <p:sp>
        <p:nvSpPr>
          <p:cNvPr id="3" name="Header"/>
          <p:cNvSpPr/>
          <p:nvPr/>
        </p:nvSpPr>
        <p:spPr>
          <a:xfrm>
            <a:off x="420000" y="180000"/>
            <a:ext cx="8300000" cy="720000"/>
          </a:xfrm>
          <a:prstGeom prst="rect">
            <a:avLst/>
          </a:prstGeom>
          <a:noFill/>
        </p:spPr>
        <p:txBody>
          <a:bodyPr/>
          <a:lstStyle/>
          <a:p>
            <a:r>
              <a:rPr lang="es-CO" sz="1050" b="1">
                <a:solidFill>
                  <a:srgbClr val="F59E0B"/>
                </a:solidFill>
              </a:rPr>
              <a:t>MÓDULO 3 • 2.5 HORAS • TEORÍA Y ARQUITECTURA GEOMAPIA</a:t>
            </a:r>
          </a:p>
          <a:p>
            <a:pPr spcBef="40000"/>
            <a:r>
              <a:rPr lang="es-CO" sz="2100" b="1">
                <a:solidFill>
                  <a:srgbClr val="FFFFFF"/>
                </a:solidFill>
              </a:rPr>
              <a:t>9. Resumen y Práctica del Módulo 3</a:t>
            </a:r>
          </a:p>
        </p:txBody>
      </p:sp>
      <!-- Columna Izquierda -->
      <p:sp>
        <p:nvSpPr>
          <p:cNvPr id="4" name="LeftCol"/>
          <p:cNvSpPr/>
          <p:nvPr/>
        </p:nvSpPr>
        <p:spPr>
          <a:xfrm>
            <a:off x="420000" y="980000"/>
            <a:ext cx="4020000" cy="3050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txBody>
          <a:bodyPr lIns="200000" rIns="200000" tIns="180000" bIns="180000"/>
          <a:lstStyle/>
          <a:p>
            <a:r>
              <a:rPr lang="es-CO" sz="1450" b="1">
                <a:solidFill>
                  <a:srgbClr val="38BDF8"/>
                </a:solidFill>
              </a:rPr>
              <a:t>Competencias Adquiridas</a:t>
            </a:r>
          </a:p>
          <a:p>
            <a:pPr spcBef="90000"/>
            <a:r>
              <a:rPr lang="es-CO" sz="1250">
                <a:solidFill>
                  <a:srgbClr val="E2E8F0"/>
                </a:solidFill>
              </a:rPr>
              <a:t>▸ Conversión automatizada de tablas CSV/Excel y Shapefiles a GeoJSON web.</a:t>
            </a:r>
          </a:p>
          <a:p>
            <a:pPr spcBef="90000"/>
            <a:r>
              <a:rPr lang="es-CO" sz="1250">
                <a:solidFill>
                  <a:srgbClr val="E2E8F0"/>
                </a:solidFill>
              </a:rPr>
              <a:t>▸ Solución definitiva al cambio de proyección MAGNA-SIRGAS (9377) a WGS84 (4326).</a:t>
            </a:r>
          </a:p>
          <a:p>
            <a:pPr spcBef="90000"/>
            <a:r>
              <a:rPr lang="es-CO" sz="1250">
                <a:solidFill>
                  <a:srgbClr val="E2E8F0"/>
                </a:solidFill>
              </a:rPr>
              <a:t>▸ Simplificación geométrica para que capas pesadas carguen en milisegundos.</a:t>
            </a:r>
          </a:p>
          <a:p>
            <a:pPr spcBef="90000"/>
            <a:r>
              <a:rPr lang="es-CO" sz="1250">
                <a:solidFill>
                  <a:srgbClr val="E2E8F0"/>
                </a:solidFill>
              </a:rPr>
              <a:t>▸ Construcción de comparadores satelitales Split-Map y Mapas de Calor.</a:t>
            </a:r>
          </a:p>
        </p:txBody>
      </p:sp>
      <!-- Columna Derecha -->
      <p:sp>
        <p:nvSpPr>
          <p:cNvPr id="5" name="RightCol"/>
          <p:cNvSpPr/>
          <p:nvPr/>
        </p:nvSpPr>
        <p:spPr>
          <a:xfrm>
            <a:off x="4700000" y="980000"/>
            <a:ext cx="4020000" cy="3050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F59E0B"/>
            </a:solidFill>
          </a:ln>
        </p:spPr>
        <p:txBody>
          <a:bodyPr lIns="200000" rIns="200000" tIns="180000" bIns="180000"/>
          <a:lstStyle/>
          <a:p>
            <a:r>
              <a:rPr lang="es-CO" sz="1450" b="1">
                <a:solidFill>
                  <a:srgbClr val="34D399"/>
                </a:solidFill>
              </a:rPr>
              <a:t>Tu Reto Práctico Autodidacta</a:t>
            </a:r>
          </a:p>
          <a:p>
            <a:pPr spcBef="90000"/>
            <a:r>
              <a:rPr lang="es-CO" sz="1250">
                <a:solidFill>
                  <a:srgbClr val="E2E8F0"/>
                </a:solidFill>
              </a:rPr>
              <a:t>▸ 1. Abre comparador-satelital-split.html y desliza la cortina sobre el Arco Amazónico.</a:t>
            </a:r>
          </a:p>
          <a:p>
            <a:pPr spcBef="90000"/>
            <a:r>
              <a:rPr lang="es-CO" sz="1250">
                <a:solidFill>
                  <a:srgbClr val="E2E8F0"/>
                </a:solidFill>
              </a:rPr>
              <a:t>▸ 2. Prueba los botones de salto a Ciénaga Grande y Páramo de Chingaza.</a:t>
            </a:r>
          </a:p>
          <a:p>
            <a:pPr spcBef="90000"/>
            <a:r>
              <a:rPr lang="es-CO" sz="1250">
                <a:solidFill>
                  <a:srgbClr val="E2E8F0"/>
                </a:solidFill>
              </a:rPr>
              <a:t>▸ 3. Pídele a la IA agregar un cuarto botón de salto hacia tu área de estudio en Colombia.</a:t>
            </a:r>
          </a:p>
          <a:p>
            <a:pPr spcBef="90000"/>
            <a:r>
              <a:rPr lang="es-CO" sz="1250">
                <a:solidFill>
                  <a:srgbClr val="E2E8F0"/>
                </a:solidFill>
              </a:rPr>
              <a:t>▸ 4. Marca el Módulo 3 como completado en el portal.</a:t>
            </a:r>
          </a:p>
        </p:txBody>
      </p:sp>
      <!-- Caja Inferior de Concepto Clave -->
      <p:sp>
        <p:nvSpPr>
          <p:cNvPr id="6" name="BottomNote"/>
          <p:cNvSpPr/>
          <p:nvPr/>
        </p:nvSpPr>
        <p:spPr>
          <a:xfrm>
            <a:off x="420000" y="4160000"/>
            <a:ext cx="8300000" cy="540000"/>
          </a:xfrm>
          <a:prstGeom prst="roundRect">
            <a:avLst/>
          </a:prstGeom>
          <a:solidFill>
            <a:srgbClr val="090D16"/>
          </a:solidFill>
          <a:ln w="12700">
            <a:solidFill>
              <a:srgbClr val="F59E0B"/>
            </a:solidFill>
          </a:ln>
        </p:spPr>
        <p:txBody>
          <a:bodyPr lIns="180000" rIns="180000" anchor="ctr"/>
          <a:lstStyle/>
          <a:p>
            <a:r>
              <a:rPr lang="es-CO" sz="1200" b="1">
                <a:solidFill>
                  <a:srgbClr val="FBBF24"/>
                </a:solidFill>
              </a:rPr>
              <a:t>💡 CONCEPTO CLAVE: </a:t>
            </a:r>
            <a:r>
              <a:rPr lang="es-CO" sz="1200">
                <a:solidFill>
                  <a:srgbClr val="F8FAFC"/>
                </a:solidFill>
              </a:rPr>
              <a:t>¡Siguiente paso: Módulo 4, donde uniremos Mapas + Gráficos Estadísticos + Geoprocesamiento en Vivo!</a:t>
            </a:r>
          </a:p>
        </p:txBody>
      </p:sp>
      <!-- Pie de Diapositiva -->
      <p:sp>
        <p:nvSpPr>
          <p:cNvPr id="7" name="Footer"/>
          <p:cNvSpPr/>
          <p:nvPr/>
        </p:nvSpPr>
        <p:spPr>
          <a:xfrm>
            <a:off x="420000" y="4760000"/>
            <a:ext cx="8300000" cy="300000"/>
          </a:xfrm>
          <a:prstGeom prst="rect">
            <a:avLst/>
          </a:prstGeom>
          <a:noFill/>
        </p:spPr>
        <p:txBody>
          <a:bodyPr/>
          <a:lstStyle/>
          <a:p>
            <a:r>
              <a:rPr lang="es-CO" sz="950">
                <a:solidFill>
                  <a:srgbClr val="64748B"/>
                </a:solidFill>
              </a:rPr>
              <a:t>SELPER Colombia (selper.org.co) • Curso Autodidacta GeoMapIA • Diapositiva 10 de 10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2026-10-29T14:33:58Z</dcterms:created>
  <dcterms:modified xsi:type="dcterms:W3CDTF">2026-10-29T14:33:58Z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